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5" r:id="rId8"/>
    <p:sldId id="266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496FD9-5139-41B4-A5F9-5A2A1CC695A8}" v="42" dt="2026-06-17T05:21:49.3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4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garwal, Jhanavi" userId="60879e5b-bb87-4909-9918-932f547c1437" providerId="ADAL" clId="{C6E9D5FC-149B-4956-83EE-45724230973E}"/>
    <pc:docChg chg="undo custSel addSld delSld modSld">
      <pc:chgData name="Agarwal, Jhanavi" userId="60879e5b-bb87-4909-9918-932f547c1437" providerId="ADAL" clId="{C6E9D5FC-149B-4956-83EE-45724230973E}" dt="2026-06-17T06:21:48.995" v="293" actId="1076"/>
      <pc:docMkLst>
        <pc:docMk/>
      </pc:docMkLst>
      <pc:sldChg chg="addSp delSp modSp mod">
        <pc:chgData name="Agarwal, Jhanavi" userId="60879e5b-bb87-4909-9918-932f547c1437" providerId="ADAL" clId="{C6E9D5FC-149B-4956-83EE-45724230973E}" dt="2026-06-17T06:21:48.995" v="293" actId="1076"/>
        <pc:sldMkLst>
          <pc:docMk/>
          <pc:sldMk cId="0" sldId="256"/>
        </pc:sldMkLst>
        <pc:spChg chg="mod">
          <ac:chgData name="Agarwal, Jhanavi" userId="60879e5b-bb87-4909-9918-932f547c1437" providerId="ADAL" clId="{C6E9D5FC-149B-4956-83EE-45724230973E}" dt="2026-06-17T06:21:48.995" v="293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Agarwal, Jhanavi" userId="60879e5b-bb87-4909-9918-932f547c1437" providerId="ADAL" clId="{C6E9D5FC-149B-4956-83EE-45724230973E}" dt="2026-06-17T05:17:10.471" v="14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Agarwal, Jhanavi" userId="60879e5b-bb87-4909-9918-932f547c1437" providerId="ADAL" clId="{C6E9D5FC-149B-4956-83EE-45724230973E}" dt="2026-06-17T05:17:10.471" v="14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Agarwal, Jhanavi" userId="60879e5b-bb87-4909-9918-932f547c1437" providerId="ADAL" clId="{C6E9D5FC-149B-4956-83EE-45724230973E}" dt="2026-06-17T05:17:42.049" v="26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Agarwal, Jhanavi" userId="60879e5b-bb87-4909-9918-932f547c1437" providerId="ADAL" clId="{C6E9D5FC-149B-4956-83EE-45724230973E}" dt="2026-06-17T05:17:59.813" v="27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Agarwal, Jhanavi" userId="60879e5b-bb87-4909-9918-932f547c1437" providerId="ADAL" clId="{C6E9D5FC-149B-4956-83EE-45724230973E}" dt="2026-06-17T05:17:59.813" v="27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Agarwal, Jhanavi" userId="60879e5b-bb87-4909-9918-932f547c1437" providerId="ADAL" clId="{C6E9D5FC-149B-4956-83EE-45724230973E}" dt="2026-06-17T05:17:59.813" v="27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Agarwal, Jhanavi" userId="60879e5b-bb87-4909-9918-932f547c1437" providerId="ADAL" clId="{C6E9D5FC-149B-4956-83EE-45724230973E}" dt="2026-06-17T05:17:59.813" v="27" actId="107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Agarwal, Jhanavi" userId="60879e5b-bb87-4909-9918-932f547c1437" providerId="ADAL" clId="{C6E9D5FC-149B-4956-83EE-45724230973E}" dt="2026-06-17T05:17:59.813" v="27" actId="1076"/>
          <ac:spMkLst>
            <pc:docMk/>
            <pc:sldMk cId="0" sldId="256"/>
            <ac:spMk id="12" creationId="{00000000-0000-0000-0000-000000000000}"/>
          </ac:spMkLst>
        </pc:spChg>
        <pc:spChg chg="mod">
          <ac:chgData name="Agarwal, Jhanavi" userId="60879e5b-bb87-4909-9918-932f547c1437" providerId="ADAL" clId="{C6E9D5FC-149B-4956-83EE-45724230973E}" dt="2026-06-17T05:17:59.813" v="27" actId="107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Agarwal, Jhanavi" userId="60879e5b-bb87-4909-9918-932f547c1437" providerId="ADAL" clId="{C6E9D5FC-149B-4956-83EE-45724230973E}" dt="2026-06-17T05:16:50.163" v="13" actId="20577"/>
          <ac:spMkLst>
            <pc:docMk/>
            <pc:sldMk cId="0" sldId="256"/>
            <ac:spMk id="14" creationId="{00000000-0000-0000-0000-000000000000}"/>
          </ac:spMkLst>
        </pc:spChg>
        <pc:spChg chg="add mod">
          <ac:chgData name="Agarwal, Jhanavi" userId="60879e5b-bb87-4909-9918-932f547c1437" providerId="ADAL" clId="{C6E9D5FC-149B-4956-83EE-45724230973E}" dt="2026-06-17T06:08:06.734" v="280" actId="20577"/>
          <ac:spMkLst>
            <pc:docMk/>
            <pc:sldMk cId="0" sldId="256"/>
            <ac:spMk id="15" creationId="{664F7286-D119-5920-6346-F912E1F3A312}"/>
          </ac:spMkLst>
        </pc:spChg>
        <pc:spChg chg="add del mod">
          <ac:chgData name="Agarwal, Jhanavi" userId="60879e5b-bb87-4909-9918-932f547c1437" providerId="ADAL" clId="{C6E9D5FC-149B-4956-83EE-45724230973E}" dt="2026-06-17T05:21:22.374" v="210"/>
          <ac:spMkLst>
            <pc:docMk/>
            <pc:sldMk cId="0" sldId="256"/>
            <ac:spMk id="16" creationId="{83630850-621F-7551-AC69-F6A165F7630C}"/>
          </ac:spMkLst>
        </pc:spChg>
        <pc:spChg chg="add del mod">
          <ac:chgData name="Agarwal, Jhanavi" userId="60879e5b-bb87-4909-9918-932f547c1437" providerId="ADAL" clId="{C6E9D5FC-149B-4956-83EE-45724230973E}" dt="2026-06-17T05:21:22.389" v="215"/>
          <ac:spMkLst>
            <pc:docMk/>
            <pc:sldMk cId="0" sldId="256"/>
            <ac:spMk id="17" creationId="{2CC84886-6887-A37F-E8E6-066A913C81F9}"/>
          </ac:spMkLst>
        </pc:spChg>
        <pc:spChg chg="add del mod">
          <ac:chgData name="Agarwal, Jhanavi" userId="60879e5b-bb87-4909-9918-932f547c1437" providerId="ADAL" clId="{C6E9D5FC-149B-4956-83EE-45724230973E}" dt="2026-06-17T05:21:22.402" v="220"/>
          <ac:spMkLst>
            <pc:docMk/>
            <pc:sldMk cId="0" sldId="256"/>
            <ac:spMk id="18" creationId="{DB6F44AC-AF4F-36D1-0159-C643466813B8}"/>
          </ac:spMkLst>
        </pc:spChg>
        <pc:spChg chg="add del mod">
          <ac:chgData name="Agarwal, Jhanavi" userId="60879e5b-bb87-4909-9918-932f547c1437" providerId="ADAL" clId="{C6E9D5FC-149B-4956-83EE-45724230973E}" dt="2026-06-17T05:21:22.416" v="225"/>
          <ac:spMkLst>
            <pc:docMk/>
            <pc:sldMk cId="0" sldId="256"/>
            <ac:spMk id="19" creationId="{861AC428-3CBA-4B5C-01E8-C65F266CDE56}"/>
          </ac:spMkLst>
        </pc:spChg>
        <pc:spChg chg="add del mod">
          <ac:chgData name="Agarwal, Jhanavi" userId="60879e5b-bb87-4909-9918-932f547c1437" providerId="ADAL" clId="{C6E9D5FC-149B-4956-83EE-45724230973E}" dt="2026-06-17T05:21:22.429" v="230"/>
          <ac:spMkLst>
            <pc:docMk/>
            <pc:sldMk cId="0" sldId="256"/>
            <ac:spMk id="20" creationId="{BB1E1A51-70BE-5F83-E9E6-6A9C6FD4B7BC}"/>
          </ac:spMkLst>
        </pc:spChg>
        <pc:spChg chg="add del mod">
          <ac:chgData name="Agarwal, Jhanavi" userId="60879e5b-bb87-4909-9918-932f547c1437" providerId="ADAL" clId="{C6E9D5FC-149B-4956-83EE-45724230973E}" dt="2026-06-17T05:21:22.443" v="235"/>
          <ac:spMkLst>
            <pc:docMk/>
            <pc:sldMk cId="0" sldId="256"/>
            <ac:spMk id="21" creationId="{70CDC89A-8452-F5AF-A005-125EC930D630}"/>
          </ac:spMkLst>
        </pc:spChg>
        <pc:spChg chg="add del mod">
          <ac:chgData name="Agarwal, Jhanavi" userId="60879e5b-bb87-4909-9918-932f547c1437" providerId="ADAL" clId="{C6E9D5FC-149B-4956-83EE-45724230973E}" dt="2026-06-17T05:21:22.455" v="240"/>
          <ac:spMkLst>
            <pc:docMk/>
            <pc:sldMk cId="0" sldId="256"/>
            <ac:spMk id="22" creationId="{7B72AC2A-03C3-CD86-25F1-0933150FD86D}"/>
          </ac:spMkLst>
        </pc:spChg>
        <pc:spChg chg="add del mod">
          <ac:chgData name="Agarwal, Jhanavi" userId="60879e5b-bb87-4909-9918-932f547c1437" providerId="ADAL" clId="{C6E9D5FC-149B-4956-83EE-45724230973E}" dt="2026-06-17T05:21:22.469" v="245"/>
          <ac:spMkLst>
            <pc:docMk/>
            <pc:sldMk cId="0" sldId="256"/>
            <ac:spMk id="23" creationId="{3637A5C5-450A-6C9E-2F05-EF1BB17D5FDD}"/>
          </ac:spMkLst>
        </pc:spChg>
        <pc:spChg chg="add del mod">
          <ac:chgData name="Agarwal, Jhanavi" userId="60879e5b-bb87-4909-9918-932f547c1437" providerId="ADAL" clId="{C6E9D5FC-149B-4956-83EE-45724230973E}" dt="2026-06-17T05:21:22.485" v="250"/>
          <ac:spMkLst>
            <pc:docMk/>
            <pc:sldMk cId="0" sldId="256"/>
            <ac:spMk id="24" creationId="{E301127A-E799-BBC4-3337-B263B2667484}"/>
          </ac:spMkLst>
        </pc:spChg>
        <pc:spChg chg="add del mod">
          <ac:chgData name="Agarwal, Jhanavi" userId="60879e5b-bb87-4909-9918-932f547c1437" providerId="ADAL" clId="{C6E9D5FC-149B-4956-83EE-45724230973E}" dt="2026-06-17T05:21:22.500" v="255"/>
          <ac:spMkLst>
            <pc:docMk/>
            <pc:sldMk cId="0" sldId="256"/>
            <ac:spMk id="25" creationId="{3911E2A3-26B9-E7F6-9D1D-268B7DF18D2E}"/>
          </ac:spMkLst>
        </pc:spChg>
      </pc:sldChg>
      <pc:sldChg chg="modSp mod">
        <pc:chgData name="Agarwal, Jhanavi" userId="60879e5b-bb87-4909-9918-932f547c1437" providerId="ADAL" clId="{C6E9D5FC-149B-4956-83EE-45724230973E}" dt="2026-06-17T05:24:23.786" v="269" actId="14100"/>
        <pc:sldMkLst>
          <pc:docMk/>
          <pc:sldMk cId="0" sldId="258"/>
        </pc:sldMkLst>
        <pc:spChg chg="mod">
          <ac:chgData name="Agarwal, Jhanavi" userId="60879e5b-bb87-4909-9918-932f547c1437" providerId="ADAL" clId="{C6E9D5FC-149B-4956-83EE-45724230973E}" dt="2026-06-17T05:24:23.786" v="269" actId="14100"/>
          <ac:spMkLst>
            <pc:docMk/>
            <pc:sldMk cId="0" sldId="258"/>
            <ac:spMk id="19" creationId="{00000000-0000-0000-0000-000000000000}"/>
          </ac:spMkLst>
        </pc:spChg>
      </pc:sldChg>
      <pc:sldChg chg="del">
        <pc:chgData name="Agarwal, Jhanavi" userId="60879e5b-bb87-4909-9918-932f547c1437" providerId="ADAL" clId="{C6E9D5FC-149B-4956-83EE-45724230973E}" dt="2026-06-16T09:34:52.963" v="0" actId="47"/>
        <pc:sldMkLst>
          <pc:docMk/>
          <pc:sldMk cId="0" sldId="260"/>
        </pc:sldMkLst>
      </pc:sldChg>
      <pc:sldChg chg="addSp delSp mod">
        <pc:chgData name="Agarwal, Jhanavi" userId="60879e5b-bb87-4909-9918-932f547c1437" providerId="ADAL" clId="{C6E9D5FC-149B-4956-83EE-45724230973E}" dt="2026-06-17T06:07:20.991" v="278" actId="478"/>
        <pc:sldMkLst>
          <pc:docMk/>
          <pc:sldMk cId="0" sldId="261"/>
        </pc:sldMkLst>
        <pc:spChg chg="del">
          <ac:chgData name="Agarwal, Jhanavi" userId="60879e5b-bb87-4909-9918-932f547c1437" providerId="ADAL" clId="{C6E9D5FC-149B-4956-83EE-45724230973E}" dt="2026-06-17T06:07:02.992" v="270" actId="478"/>
          <ac:spMkLst>
            <pc:docMk/>
            <pc:sldMk cId="0" sldId="261"/>
            <ac:spMk id="10" creationId="{00000000-0000-0000-0000-000000000000}"/>
          </ac:spMkLst>
        </pc:spChg>
        <pc:spChg chg="del">
          <ac:chgData name="Agarwal, Jhanavi" userId="60879e5b-bb87-4909-9918-932f547c1437" providerId="ADAL" clId="{C6E9D5FC-149B-4956-83EE-45724230973E}" dt="2026-06-17T06:07:06.050" v="271" actId="478"/>
          <ac:spMkLst>
            <pc:docMk/>
            <pc:sldMk cId="0" sldId="261"/>
            <ac:spMk id="19" creationId="{00000000-0000-0000-0000-000000000000}"/>
          </ac:spMkLst>
        </pc:spChg>
        <pc:spChg chg="del">
          <ac:chgData name="Agarwal, Jhanavi" userId="60879e5b-bb87-4909-9918-932f547c1437" providerId="ADAL" clId="{C6E9D5FC-149B-4956-83EE-45724230973E}" dt="2026-06-17T06:07:11.227" v="274" actId="478"/>
          <ac:spMkLst>
            <pc:docMk/>
            <pc:sldMk cId="0" sldId="261"/>
            <ac:spMk id="28" creationId="{00000000-0000-0000-0000-000000000000}"/>
          </ac:spMkLst>
        </pc:spChg>
        <pc:spChg chg="del">
          <ac:chgData name="Agarwal, Jhanavi" userId="60879e5b-bb87-4909-9918-932f547c1437" providerId="ADAL" clId="{C6E9D5FC-149B-4956-83EE-45724230973E}" dt="2026-06-17T06:07:15.704" v="275" actId="478"/>
          <ac:spMkLst>
            <pc:docMk/>
            <pc:sldMk cId="0" sldId="261"/>
            <ac:spMk id="37" creationId="{00000000-0000-0000-0000-000000000000}"/>
          </ac:spMkLst>
        </pc:spChg>
        <pc:spChg chg="add del">
          <ac:chgData name="Agarwal, Jhanavi" userId="60879e5b-bb87-4909-9918-932f547c1437" providerId="ADAL" clId="{C6E9D5FC-149B-4956-83EE-45724230973E}" dt="2026-06-17T06:07:18.786" v="277" actId="478"/>
          <ac:spMkLst>
            <pc:docMk/>
            <pc:sldMk cId="0" sldId="261"/>
            <ac:spMk id="44" creationId="{00000000-0000-0000-0000-000000000000}"/>
          </ac:spMkLst>
        </pc:spChg>
        <pc:spChg chg="del">
          <ac:chgData name="Agarwal, Jhanavi" userId="60879e5b-bb87-4909-9918-932f547c1437" providerId="ADAL" clId="{C6E9D5FC-149B-4956-83EE-45724230973E}" dt="2026-06-17T06:07:20.991" v="278" actId="478"/>
          <ac:spMkLst>
            <pc:docMk/>
            <pc:sldMk cId="0" sldId="261"/>
            <ac:spMk id="46" creationId="{00000000-0000-0000-0000-000000000000}"/>
          </ac:spMkLst>
        </pc:spChg>
        <pc:picChg chg="add del">
          <ac:chgData name="Agarwal, Jhanavi" userId="60879e5b-bb87-4909-9918-932f547c1437" providerId="ADAL" clId="{C6E9D5FC-149B-4956-83EE-45724230973E}" dt="2026-06-17T06:07:08.755" v="273" actId="478"/>
          <ac:picMkLst>
            <pc:docMk/>
            <pc:sldMk cId="0" sldId="261"/>
            <ac:picMk id="29" creationId="{00000000-0000-0000-0000-000000000000}"/>
          </ac:picMkLst>
        </pc:picChg>
      </pc:sldChg>
      <pc:sldChg chg="del">
        <pc:chgData name="Agarwal, Jhanavi" userId="60879e5b-bb87-4909-9918-932f547c1437" providerId="ADAL" clId="{C6E9D5FC-149B-4956-83EE-45724230973E}" dt="2026-06-16T09:35:01.558" v="1" actId="47"/>
        <pc:sldMkLst>
          <pc:docMk/>
          <pc:sldMk cId="0" sldId="263"/>
        </pc:sldMkLst>
      </pc:sldChg>
      <pc:sldChg chg="del">
        <pc:chgData name="Agarwal, Jhanavi" userId="60879e5b-bb87-4909-9918-932f547c1437" providerId="ADAL" clId="{C6E9D5FC-149B-4956-83EE-45724230973E}" dt="2026-06-16T09:35:20.134" v="2" actId="47"/>
        <pc:sldMkLst>
          <pc:docMk/>
          <pc:sldMk cId="0" sldId="264"/>
        </pc:sldMkLst>
      </pc:sldChg>
      <pc:sldChg chg="modSp mod">
        <pc:chgData name="Agarwal, Jhanavi" userId="60879e5b-bb87-4909-9918-932f547c1437" providerId="ADAL" clId="{C6E9D5FC-149B-4956-83EE-45724230973E}" dt="2026-06-17T06:20:56.353" v="289" actId="1076"/>
        <pc:sldMkLst>
          <pc:docMk/>
          <pc:sldMk cId="0" sldId="265"/>
        </pc:sldMkLst>
        <pc:spChg chg="mod">
          <ac:chgData name="Agarwal, Jhanavi" userId="60879e5b-bb87-4909-9918-932f547c1437" providerId="ADAL" clId="{C6E9D5FC-149B-4956-83EE-45724230973E}" dt="2026-06-17T06:20:56.353" v="289" actId="1076"/>
          <ac:spMkLst>
            <pc:docMk/>
            <pc:sldMk cId="0" sldId="265"/>
            <ac:spMk id="16" creationId="{00000000-0000-0000-0000-000000000000}"/>
          </ac:spMkLst>
        </pc:spChg>
        <pc:spChg chg="mod">
          <ac:chgData name="Agarwal, Jhanavi" userId="60879e5b-bb87-4909-9918-932f547c1437" providerId="ADAL" clId="{C6E9D5FC-149B-4956-83EE-45724230973E}" dt="2026-06-17T06:20:39.001" v="286" actId="1076"/>
          <ac:spMkLst>
            <pc:docMk/>
            <pc:sldMk cId="0" sldId="265"/>
            <ac:spMk id="19" creationId="{00000000-0000-0000-0000-000000000000}"/>
          </ac:spMkLst>
        </pc:spChg>
        <pc:spChg chg="mod">
          <ac:chgData name="Agarwal, Jhanavi" userId="60879e5b-bb87-4909-9918-932f547c1437" providerId="ADAL" clId="{C6E9D5FC-149B-4956-83EE-45724230973E}" dt="2026-06-17T06:20:30.919" v="285" actId="14100"/>
          <ac:spMkLst>
            <pc:docMk/>
            <pc:sldMk cId="0" sldId="265"/>
            <ac:spMk id="20" creationId="{00000000-0000-0000-0000-000000000000}"/>
          </ac:spMkLst>
        </pc:spChg>
        <pc:picChg chg="mod">
          <ac:chgData name="Agarwal, Jhanavi" userId="60879e5b-bb87-4909-9918-932f547c1437" providerId="ADAL" clId="{C6E9D5FC-149B-4956-83EE-45724230973E}" dt="2026-06-17T06:20:49.134" v="288" actId="14100"/>
          <ac:picMkLst>
            <pc:docMk/>
            <pc:sldMk cId="0" sldId="265"/>
            <ac:picMk id="17" creationId="{00000000-0000-0000-0000-000000000000}"/>
          </ac:picMkLst>
        </pc:picChg>
      </pc:sldChg>
      <pc:sldChg chg="delSp mod">
        <pc:chgData name="Agarwal, Jhanavi" userId="60879e5b-bb87-4909-9918-932f547c1437" providerId="ADAL" clId="{C6E9D5FC-149B-4956-83EE-45724230973E}" dt="2026-06-17T06:20:19.256" v="284" actId="478"/>
        <pc:sldMkLst>
          <pc:docMk/>
          <pc:sldMk cId="0" sldId="266"/>
        </pc:sldMkLst>
        <pc:spChg chg="del">
          <ac:chgData name="Agarwal, Jhanavi" userId="60879e5b-bb87-4909-9918-932f547c1437" providerId="ADAL" clId="{C6E9D5FC-149B-4956-83EE-45724230973E}" dt="2026-06-17T06:20:08.141" v="281" actId="478"/>
          <ac:spMkLst>
            <pc:docMk/>
            <pc:sldMk cId="0" sldId="266"/>
            <ac:spMk id="35" creationId="{00000000-0000-0000-0000-000000000000}"/>
          </ac:spMkLst>
        </pc:spChg>
        <pc:spChg chg="del">
          <ac:chgData name="Agarwal, Jhanavi" userId="60879e5b-bb87-4909-9918-932f547c1437" providerId="ADAL" clId="{C6E9D5FC-149B-4956-83EE-45724230973E}" dt="2026-06-17T06:20:12.417" v="282" actId="478"/>
          <ac:spMkLst>
            <pc:docMk/>
            <pc:sldMk cId="0" sldId="266"/>
            <ac:spMk id="40" creationId="{00000000-0000-0000-0000-000000000000}"/>
          </ac:spMkLst>
        </pc:spChg>
        <pc:spChg chg="del">
          <ac:chgData name="Agarwal, Jhanavi" userId="60879e5b-bb87-4909-9918-932f547c1437" providerId="ADAL" clId="{C6E9D5FC-149B-4956-83EE-45724230973E}" dt="2026-06-17T06:20:16.219" v="283" actId="478"/>
          <ac:spMkLst>
            <pc:docMk/>
            <pc:sldMk cId="0" sldId="266"/>
            <ac:spMk id="45" creationId="{00000000-0000-0000-0000-000000000000}"/>
          </ac:spMkLst>
        </pc:spChg>
        <pc:spChg chg="del">
          <ac:chgData name="Agarwal, Jhanavi" userId="60879e5b-bb87-4909-9918-932f547c1437" providerId="ADAL" clId="{C6E9D5FC-149B-4956-83EE-45724230973E}" dt="2026-06-17T06:20:19.256" v="284" actId="478"/>
          <ac:spMkLst>
            <pc:docMk/>
            <pc:sldMk cId="0" sldId="266"/>
            <ac:spMk id="50" creationId="{00000000-0000-0000-0000-000000000000}"/>
          </ac:spMkLst>
        </pc:spChg>
      </pc:sldChg>
      <pc:sldChg chg="new del">
        <pc:chgData name="Agarwal, Jhanavi" userId="60879e5b-bb87-4909-9918-932f547c1437" providerId="ADAL" clId="{C6E9D5FC-149B-4956-83EE-45724230973E}" dt="2026-06-17T05:17:16.116" v="15" actId="47"/>
        <pc:sldMkLst>
          <pc:docMk/>
          <pc:sldMk cId="2150856566" sldId="268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Confidence</c:v>
                </c:pt>
              </c:strCache>
            </c:strRef>
          </c:tx>
          <c:spPr>
            <a:solidFill>
              <a:srgbClr val="00386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D65-4CC1-83FA-3C879D8510DD}"/>
              </c:ext>
            </c:extLst>
          </c:dPt>
          <c:dPt>
            <c:idx val="1"/>
            <c:invertIfNegative val="0"/>
            <c:bubble3D val="0"/>
            <c:spPr>
              <a:solidFill>
                <a:srgbClr val="8300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D65-4CC1-83FA-3C879D8510DD}"/>
              </c:ext>
            </c:extLst>
          </c:dPt>
          <c:dPt>
            <c:idx val="2"/>
            <c:invertIfNegative val="0"/>
            <c:bubble3D val="0"/>
            <c:spPr>
              <a:solidFill>
                <a:srgbClr val="F0AB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D65-4CC1-83FA-3C879D8510D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2B2B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Tier 0
form-scoped</c:v>
                </c:pt>
                <c:pt idx="1">
                  <c:v>Tier 1
NOT SUBMITTED</c:v>
                </c:pt>
                <c:pt idx="2">
                  <c:v>Tier 2
cross-module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98</c:v>
                </c:pt>
                <c:pt idx="1">
                  <c:v>99</c:v>
                </c:pt>
                <c:pt idx="2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D65-4CC1-83FA-3C879D8510D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558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70"/>
        </c:scaling>
        <c:delete val="0"/>
        <c:axPos val="l"/>
        <c:majorGridlines>
          <c:spPr>
            <a:ln w="6350" cap="flat">
              <a:solidFill>
                <a:srgbClr val="ECE8EC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DB0A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0940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Intern project presented to R&amp;I SP leadership. Frame humbly: this produces a reviewable FIRST DRAFT of the annotated CRF, not a validated final aCRF. Aim ~7 minutes total. Keep the best reference aCRF open alongside for show-and-tell.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in three numbers. ~500 pages of blank CRF, manually annotated against AZ standard documents — repetitive work. Multiple sources cross-checked to produce the first draft. Significant rework follows. A tool that produces a reliable first draft reduces rework and shortens turnaround. Land on the opportunity bar: programmers review and finalise instead of building from scratch.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objectives. (1) Automate annotated CRF production — weeks to hours at standard-acceptable accuracy. (2) Standards-based SDTM mapping grounded in three AZ sources: the RAW-to-SDTM specification template, corporate SDTM standards, and SDTM controlled terminology. (3) A technical and practical solution: integrated, modular, with a roadmap. Emphasise it is built to fit programmer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four quickly. (1) Rave export direct lookup — spec is on non-unique pages, annotation on unique pages; structural mismatch, needs manual reconciliation. (2) Direct LLM prompting (Qwen 0.6B) — hallucinated non-existent variables like DM.DOB instead of DM.BRTHDTC, non-reproducible, no traceability; unacceptable for submission. (3) Vector similarity (BGE-small-en + FAISS) — no hallucinations but no form context, can't separate VS/LB/EG 'Result'. (4) Specification-driven resolution — chosen; form-aware, traceable, deterministic. Next slide drills into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End-to-end pipeline, five modules. Input layer takes the blank CRF PDF plus AZ spec, standards and controlled terminology. Cache &amp; index builder parses Excel specs into JSON knowledge bases with registries and lookup tables. PDF parsing engine (PyMuPDF) extracts structure, labels, positions and codelists, stripping instructional/helper text via regex. Resolution engine runs the tiered cascade with confidence scoring and escalation. PDF annotation writer (PyMuPDF) produces the annotated CRF with colour-coded boxes, dataset headers, codelist codes, overlap avoidance and bookmarks.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Output quality. The chart shows confidence by resolving tier: Tier 0 form-scoped 0.98, Tier 1 NOT SUBMITTED 0.99, Tier 2 cross-module averaging ~0.90 (it varies 0.85–0.95 by label similarity and is only accepted above threshold). Visual output: colour-coded boxes by domain class, dataset headers per page, codelist codes in parentheses, navigation bookmarks — acceptable first-draft quality. Metrics defined plainly: resolution rate = annotated ÷ total data-carrying fields; confidence = the resolving tier's score averaged; form coverage = fully-resolved forms ÷ total forms.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it stands. Left: the strongest domains — AE, VS, PR, LB, CM, EG, MH, DM, IE, SV — all at 98% confidence, which covers the bulk of standard forms. Right, the honest refinement areas, all needing study- or protocol-level context: gating Yes/No questions occasionally map to the topic variable instead of NOT SUBMITTED; SUPP-- qualifiers need more spec detail (e.g. 'Reason not performed', processing date/times); duplicate assignments where one label serves two purposes, fixable with field-type awareness; and multi-domain forms (EXACATE, INFSS, LIVERSS) where CE/FA/MH can't be separated without protocol context. These are exactly what the next phase targets.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300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7818120" y="-1463040"/>
            <a:ext cx="6400800" cy="6400800"/>
          </a:xfrm>
          <a:prstGeom prst="roundRect">
            <a:avLst>
              <a:gd name="adj" fmla="val 12857"/>
            </a:avLst>
          </a:prstGeom>
          <a:solidFill>
            <a:srgbClr val="4D00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 rot="1080000">
            <a:off x="9144000" y="2468880"/>
            <a:ext cx="4937760" cy="5669280"/>
          </a:xfrm>
          <a:prstGeom prst="roundRect">
            <a:avLst>
              <a:gd name="adj" fmla="val 14815"/>
            </a:avLst>
          </a:prstGeom>
          <a:solidFill>
            <a:srgbClr val="D0006F">
              <a:alpha val="8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183175" y="559982"/>
            <a:ext cx="547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21792" y="478111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68D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R&amp;I  ·  STATISTICAL PROGRAMMING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" y="798151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Automated aCRF</a:t>
            </a:r>
            <a:endParaRPr lang="en-US" sz="52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Annotation Engine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21792" y="2718391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EA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aCRF annotations and bookmarks — turning a multi-week manual task into a reviewable first draft in minutes.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83746" y="6190488"/>
            <a:ext cx="1656893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68D2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783746" y="6190488"/>
            <a:ext cx="165689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41807" y="6190488"/>
            <a:ext cx="2329891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68D2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641807" y="6190488"/>
            <a:ext cx="232989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review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172866" y="6190488"/>
            <a:ext cx="2918765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68D2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172866" y="6190488"/>
            <a:ext cx="291876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CDISC aCRF conventions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180015" y="6400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9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17-06-26</a:t>
            </a:r>
            <a:endParaRPr lang="en-US" sz="110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664F7286-D119-5920-6346-F912E1F3A312}"/>
              </a:ext>
            </a:extLst>
          </p:cNvPr>
          <p:cNvSpPr/>
          <p:nvPr/>
        </p:nvSpPr>
        <p:spPr>
          <a:xfrm>
            <a:off x="548640" y="3993754"/>
            <a:ext cx="6949440" cy="1414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By- 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Jhanavi Agarwal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Statistical Programming Intern</a:t>
            </a:r>
          </a:p>
          <a:p>
            <a:pPr>
              <a:lnSpc>
                <a:spcPct val="105000"/>
              </a:lnSpc>
            </a:pPr>
            <a:r>
              <a:rPr lang="en-US" sz="1600" b="1" dirty="0">
                <a:solidFill>
                  <a:schemeClr val="bg1"/>
                </a:solidFill>
                <a:latin typeface="Century Schoolbook" panose="02040604050505020304" pitchFamily="18" charset="0"/>
              </a:rPr>
              <a:t>B. Tech in Computer Science Engineering (Artificial Intelligence)</a:t>
            </a:r>
          </a:p>
          <a:p>
            <a:pPr marL="0" indent="0" algn="l">
              <a:lnSpc>
                <a:spcPct val="105000"/>
              </a:lnSpc>
              <a:buNone/>
            </a:pPr>
            <a:endParaRPr lang="en-US" sz="1600" b="1" dirty="0">
              <a:solidFill>
                <a:schemeClr val="bg1"/>
              </a:solidFill>
              <a:latin typeface="Century Schoolbook" panose="02040604050505020304" pitchFamily="18" charset="0"/>
            </a:endParaRPr>
          </a:p>
          <a:p>
            <a:pPr marL="0" indent="0" algn="l">
              <a:lnSpc>
                <a:spcPct val="105000"/>
              </a:lnSpc>
              <a:buNone/>
            </a:pPr>
            <a:endParaRPr lang="en-US" sz="1600" dirty="0">
              <a:latin typeface="Century Schoolbook" panose="020406040505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D00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83005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manual aCRF annotation bottleneck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59007" y="420624"/>
            <a:ext cx="384048" cy="384048"/>
          </a:xfrm>
          <a:prstGeom prst="ellipse">
            <a:avLst/>
          </a:prstGeom>
          <a:solidFill>
            <a:srgbClr val="8300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1259007" y="420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aCRF Annotation Engine</a:t>
            </a:r>
            <a:r>
              <a:rPr lang="en-US" sz="900" dirty="0">
                <a:solidFill>
                  <a:srgbClr val="9DB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AstraZeneca  ·  R&amp;I Statistical Programming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3419856" cy="2743200"/>
          </a:xfrm>
          <a:prstGeom prst="roundRect">
            <a:avLst>
              <a:gd name="adj" fmla="val 4000"/>
            </a:avLst>
          </a:prstGeom>
          <a:solidFill>
            <a:srgbClr val="F6EEF4"/>
          </a:solidFill>
          <a:ln/>
          <a:effectLst>
            <a:outerShdw blurRad="76200" dist="25400" dir="5400000" algn="bl" rotWithShape="0">
              <a:srgbClr val="88888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41248" y="1920240"/>
            <a:ext cx="713232" cy="713232"/>
          </a:xfrm>
          <a:prstGeom prst="ellipse">
            <a:avLst/>
          </a:prstGeom>
          <a:solidFill>
            <a:srgbClr val="830051"/>
          </a:solidFill>
          <a:ln/>
          <a:effectLst>
            <a:outerShdw blurRad="76200" dist="25400" dir="5400000" algn="bl" rotWithShape="0">
              <a:srgbClr val="88888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0" descr="/tmp/build/icons/fi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688" y="2105680"/>
            <a:ext cx="342351" cy="34235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82496" y="1901952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83005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~500</a:t>
            </a:r>
            <a:r>
              <a:rPr lang="en-US" sz="1500" b="1" dirty="0">
                <a:solidFill>
                  <a:srgbClr val="6B6F7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pages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841248" y="279806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blank CRF annotated by hand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41248" y="329184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6B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mapped manually against AZ standard documents and processes — a highly repetitive task.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97680" y="1627632"/>
            <a:ext cx="3419856" cy="2743200"/>
          </a:xfrm>
          <a:prstGeom prst="roundRect">
            <a:avLst>
              <a:gd name="adj" fmla="val 4000"/>
            </a:avLst>
          </a:prstGeom>
          <a:solidFill>
            <a:srgbClr val="EEF3F6"/>
          </a:solidFill>
          <a:ln/>
          <a:effectLst>
            <a:outerShdw blurRad="76200" dist="25400" dir="5400000" algn="bl" rotWithShape="0">
              <a:srgbClr val="88888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4590288" y="1920240"/>
            <a:ext cx="713232" cy="713232"/>
          </a:xfrm>
          <a:prstGeom prst="ellipse">
            <a:avLst/>
          </a:prstGeom>
          <a:solidFill>
            <a:srgbClr val="003865"/>
          </a:solidFill>
          <a:ln/>
          <a:effectLst>
            <a:outerShdw blurRad="76200" dist="25400" dir="5400000" algn="bl" rotWithShape="0">
              <a:srgbClr val="88888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5" name="Image 1" descr="/tmp/build/icons/sour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5728" y="2105680"/>
            <a:ext cx="342351" cy="34235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31536" y="1901952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0386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Multiple</a:t>
            </a:r>
            <a:r>
              <a:rPr lang="en-US" sz="1500" b="1" dirty="0">
                <a:solidFill>
                  <a:srgbClr val="6B6F7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sources</a:t>
            </a:r>
            <a:endParaRPr lang="en-US" sz="3400" dirty="0"/>
          </a:p>
        </p:txBody>
      </p:sp>
      <p:sp>
        <p:nvSpPr>
          <p:cNvPr id="17" name="Text 13"/>
          <p:cNvSpPr/>
          <p:nvPr/>
        </p:nvSpPr>
        <p:spPr>
          <a:xfrm>
            <a:off x="4590288" y="279806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referenced &amp; cross-checked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4590288" y="329184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6B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Specifications, corporate SDTM standards and controlled terminology all consulted to build the first draft.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046720" y="1627632"/>
            <a:ext cx="3419856" cy="2743200"/>
          </a:xfrm>
          <a:prstGeom prst="roundRect">
            <a:avLst>
              <a:gd name="adj" fmla="val 4000"/>
            </a:avLst>
          </a:prstGeom>
          <a:solidFill>
            <a:srgbClr val="FBF3DD"/>
          </a:solidFill>
          <a:ln/>
          <a:effectLst>
            <a:outerShdw blurRad="76200" dist="25400" dir="5400000" algn="bl" rotWithShape="0">
              <a:srgbClr val="88888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8339328" y="1920240"/>
            <a:ext cx="713232" cy="713232"/>
          </a:xfrm>
          <a:prstGeom prst="ellipse">
            <a:avLst/>
          </a:prstGeom>
          <a:solidFill>
            <a:srgbClr val="F0AB00"/>
          </a:solidFill>
          <a:ln/>
          <a:effectLst>
            <a:outerShdw blurRad="76200" dist="25400" dir="5400000" algn="bl" rotWithShape="0">
              <a:srgbClr val="88888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1" name="Image 2" descr="/tmp/build/icons/hourgla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4768" y="2105680"/>
            <a:ext cx="342351" cy="34235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180576" y="1901952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B5820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Weeks</a:t>
            </a:r>
            <a:r>
              <a:rPr lang="en-US" sz="1500" b="1" dirty="0">
                <a:solidFill>
                  <a:srgbClr val="6B6F7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turnaround</a:t>
            </a:r>
            <a:endParaRPr lang="en-US" sz="3400" dirty="0"/>
          </a:p>
        </p:txBody>
      </p:sp>
      <p:sp>
        <p:nvSpPr>
          <p:cNvPr id="23" name="Text 18"/>
          <p:cNvSpPr/>
          <p:nvPr/>
        </p:nvSpPr>
        <p:spPr>
          <a:xfrm>
            <a:off x="8339328" y="279806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rework on the first draft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8339328" y="329184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6B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rework is needed — a reliable first draft cuts this and shortens overall turnaround.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548640" y="4681728"/>
            <a:ext cx="11094415" cy="1325880"/>
          </a:xfrm>
          <a:prstGeom prst="roundRect">
            <a:avLst>
              <a:gd name="adj" fmla="val 8276"/>
            </a:avLst>
          </a:prstGeom>
          <a:solidFill>
            <a:srgbClr val="830051"/>
          </a:solidFill>
          <a:ln/>
          <a:effectLst>
            <a:outerShdw blurRad="88900" dist="38100" dir="5400000" algn="bl" rotWithShape="0">
              <a:srgbClr val="9A889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914400" y="506577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3" descr="/tmp/build/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801" y="5213177"/>
            <a:ext cx="272125" cy="27212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645920" y="4882896"/>
            <a:ext cx="9722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opportunity   </a:t>
            </a:r>
            <a:r>
              <a:rPr lang="en-US" sz="1500" b="1" dirty="0">
                <a:solidFill>
                  <a:srgbClr val="68D2DF"/>
                </a:solidFill>
              </a:rPr>
              <a:t>Generate a reliable first-draft annotated CRF automatically</a:t>
            </a:r>
            <a:endParaRPr lang="en-US" sz="1700" dirty="0"/>
          </a:p>
        </p:txBody>
      </p:sp>
      <p:sp>
        <p:nvSpPr>
          <p:cNvPr id="29" name="Text 23"/>
          <p:cNvSpPr/>
          <p:nvPr/>
        </p:nvSpPr>
        <p:spPr>
          <a:xfrm>
            <a:off x="1645920" y="5340096"/>
            <a:ext cx="97228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50" dirty="0">
                <a:solidFill>
                  <a:srgbClr val="EA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the repetitive manual effort and shorten turnaround, leaving programmers to review and finalise rather than build from scratch.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D00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BUILD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83005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Objective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59007" y="420624"/>
            <a:ext cx="384048" cy="384048"/>
          </a:xfrm>
          <a:prstGeom prst="ellipse">
            <a:avLst/>
          </a:prstGeom>
          <a:solidFill>
            <a:srgbClr val="8300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1259007" y="420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aCRF Annotation Engine</a:t>
            </a:r>
            <a:r>
              <a:rPr lang="en-US" sz="900" dirty="0">
                <a:solidFill>
                  <a:srgbClr val="9DB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AstraZeneca  ·  R&amp;I Statistical Programming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55648"/>
            <a:ext cx="3419856" cy="3977640"/>
          </a:xfrm>
          <a:prstGeom prst="roundRect">
            <a:avLst>
              <a:gd name="adj" fmla="val 3209"/>
            </a:avLst>
          </a:prstGeom>
          <a:solidFill>
            <a:srgbClr val="FFFFFF"/>
          </a:solidFill>
          <a:ln w="12700">
            <a:solidFill>
              <a:srgbClr val="E4E1E5"/>
            </a:solidFill>
            <a:prstDash val="solid"/>
          </a:ln>
          <a:effectLst>
            <a:outerShdw blurRad="76200" dist="25400" dir="5400000" algn="bl" rotWithShape="0">
              <a:srgbClr val="88888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596896" y="1865376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F6EEF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859536" y="2066544"/>
            <a:ext cx="822960" cy="822960"/>
          </a:xfrm>
          <a:prstGeom prst="ellipse">
            <a:avLst/>
          </a:prstGeom>
          <a:solidFill>
            <a:srgbClr val="830051"/>
          </a:solidFill>
          <a:ln/>
          <a:effectLst>
            <a:outerShdw blurRad="76200" dist="25400" dir="5400000" algn="bl" rotWithShape="0">
              <a:srgbClr val="88888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0" descr="/tmp/build/icons/bol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506" y="2280514"/>
            <a:ext cx="395021" cy="39502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59536" y="3054096"/>
            <a:ext cx="2798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700" b="1" dirty="0">
                <a:solidFill>
                  <a:srgbClr val="83005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Automation of annotated CRFs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59536" y="3749040"/>
            <a:ext cx="27980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automates production of annotated Case Report Forms, reducing turnaround from weeks to hours at standard-acceptable accuracy.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297680" y="1755648"/>
            <a:ext cx="3419856" cy="3977640"/>
          </a:xfrm>
          <a:prstGeom prst="roundRect">
            <a:avLst>
              <a:gd name="adj" fmla="val 3209"/>
            </a:avLst>
          </a:prstGeom>
          <a:solidFill>
            <a:srgbClr val="FFFFFF"/>
          </a:solidFill>
          <a:ln w="12700">
            <a:solidFill>
              <a:srgbClr val="E4E1E5"/>
            </a:solidFill>
            <a:prstDash val="solid"/>
          </a:ln>
          <a:effectLst>
            <a:outerShdw blurRad="76200" dist="25400" dir="5400000" algn="bl" rotWithShape="0">
              <a:srgbClr val="88888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345936" y="1865376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F6EEF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Shape 12"/>
          <p:cNvSpPr/>
          <p:nvPr/>
        </p:nvSpPr>
        <p:spPr>
          <a:xfrm>
            <a:off x="4608576" y="2066544"/>
            <a:ext cx="822960" cy="822960"/>
          </a:xfrm>
          <a:prstGeom prst="ellipse">
            <a:avLst/>
          </a:prstGeom>
          <a:solidFill>
            <a:srgbClr val="830051"/>
          </a:solidFill>
          <a:ln/>
          <a:effectLst>
            <a:outerShdw blurRad="76200" dist="25400" dir="5400000" algn="bl" rotWithShape="0">
              <a:srgbClr val="88888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1" descr="/tmp/build/icons/sitema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546" y="2280514"/>
            <a:ext cx="395021" cy="39502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608576" y="3054096"/>
            <a:ext cx="2798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700" b="1" dirty="0">
                <a:solidFill>
                  <a:srgbClr val="83005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Standards-based SDTM mapping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4608576" y="3749040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SDTM mapping grounded in AZ corporate standards: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423144" y="4380614"/>
            <a:ext cx="3038360" cy="1105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03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RAW-to-SDTM Specification Template</a:t>
            </a:r>
            <a:endParaRPr lang="en-US" sz="1400" b="1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03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Corporate SDTM Standards</a:t>
            </a:r>
            <a:endParaRPr lang="en-US" sz="1400" b="1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03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SDTM Controlled Terminology</a:t>
            </a:r>
            <a:endParaRPr lang="en-US" sz="1400" b="1" dirty="0"/>
          </a:p>
        </p:txBody>
      </p:sp>
      <p:sp>
        <p:nvSpPr>
          <p:cNvPr id="20" name="Shape 16"/>
          <p:cNvSpPr/>
          <p:nvPr/>
        </p:nvSpPr>
        <p:spPr>
          <a:xfrm>
            <a:off x="8046720" y="1755648"/>
            <a:ext cx="3419856" cy="3977640"/>
          </a:xfrm>
          <a:prstGeom prst="roundRect">
            <a:avLst>
              <a:gd name="adj" fmla="val 3209"/>
            </a:avLst>
          </a:prstGeom>
          <a:solidFill>
            <a:srgbClr val="FFFFFF"/>
          </a:solidFill>
          <a:ln w="12700">
            <a:solidFill>
              <a:srgbClr val="E4E1E5"/>
            </a:solidFill>
            <a:prstDash val="solid"/>
          </a:ln>
          <a:effectLst>
            <a:outerShdw blurRad="76200" dist="25400" dir="5400000" algn="bl" rotWithShape="0">
              <a:srgbClr val="88888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/>
          <p:nvPr/>
        </p:nvSpPr>
        <p:spPr>
          <a:xfrm>
            <a:off x="10094976" y="1865376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F6EEF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3000" dirty="0"/>
          </a:p>
        </p:txBody>
      </p:sp>
      <p:sp>
        <p:nvSpPr>
          <p:cNvPr id="22" name="Shape 18"/>
          <p:cNvSpPr/>
          <p:nvPr/>
        </p:nvSpPr>
        <p:spPr>
          <a:xfrm>
            <a:off x="8357616" y="2066544"/>
            <a:ext cx="822960" cy="822960"/>
          </a:xfrm>
          <a:prstGeom prst="ellipse">
            <a:avLst/>
          </a:prstGeom>
          <a:solidFill>
            <a:srgbClr val="830051"/>
          </a:solidFill>
          <a:ln/>
          <a:effectLst>
            <a:outerShdw blurRad="76200" dist="25400" dir="5400000" algn="bl" rotWithShape="0">
              <a:srgbClr val="88888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Image 2" descr="/tmp/build/icons/cube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1586" y="2280514"/>
            <a:ext cx="395021" cy="395021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357616" y="3054096"/>
            <a:ext cx="2798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700" b="1" dirty="0">
                <a:solidFill>
                  <a:srgbClr val="83005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Technical &amp; practical solution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8357616" y="3749040"/>
            <a:ext cx="27980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integrated, modular architecture with a clear roadmap for future enhancements — designed to slot into existing programmer workflows.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D00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GOT TO THE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83005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Four approaches evaluated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59007" y="420624"/>
            <a:ext cx="384048" cy="384048"/>
          </a:xfrm>
          <a:prstGeom prst="ellipse">
            <a:avLst/>
          </a:prstGeom>
          <a:solidFill>
            <a:srgbClr val="8300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1259007" y="420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aCRF Annotation Engine</a:t>
            </a:r>
            <a:r>
              <a:rPr lang="en-US" sz="900" dirty="0">
                <a:solidFill>
                  <a:srgbClr val="9DB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AstraZeneca  ·  R&amp;I Statistical Programming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50" dirty="0">
                <a:solidFill>
                  <a:srgbClr val="6B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candidate was tested against the bar that matters for a regulatory submission: every annotation must trace back to a standard, and the same input must always produce the same output.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139696"/>
            <a:ext cx="539496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E4E1E5"/>
            </a:solidFill>
            <a:prstDash val="solid"/>
          </a:ln>
          <a:effectLst>
            <a:outerShdw blurRad="76200" dist="25400" dir="5400000" algn="bl" rotWithShape="0">
              <a:srgbClr val="88888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936492" y="2359152"/>
            <a:ext cx="1787652" cy="329184"/>
          </a:xfrm>
          <a:prstGeom prst="roundRect">
            <a:avLst>
              <a:gd name="adj" fmla="val 50000"/>
            </a:avLst>
          </a:prstGeom>
          <a:solidFill>
            <a:srgbClr val="8C8C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936492" y="2359152"/>
            <a:ext cx="17876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mismatch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86384" y="2377440"/>
            <a:ext cx="603504" cy="603504"/>
          </a:xfrm>
          <a:prstGeom prst="ellipse">
            <a:avLst/>
          </a:prstGeom>
          <a:solidFill>
            <a:srgbClr val="003865"/>
          </a:solidFill>
          <a:ln/>
          <a:effectLst>
            <a:outerShdw blurRad="76200" dist="25400" dir="5400000" algn="bl" rotWithShape="0">
              <a:srgbClr val="88888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0" descr="/tmp/build/icons/loo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295" y="2534351"/>
            <a:ext cx="289682" cy="28968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99616" y="2322576"/>
            <a:ext cx="23454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9DB0AC"/>
                </a:solidFill>
              </a:rPr>
              <a:t>01   </a:t>
            </a:r>
            <a:r>
              <a:rPr lang="en-US" sz="1500" b="1" dirty="0">
                <a:solidFill>
                  <a:srgbClr val="2B2B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Rave export CRF mapping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499616" y="2706624"/>
            <a:ext cx="2894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6B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lookup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04672" y="3035808"/>
            <a:ext cx="48828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30" dirty="0">
                <a:solidFill>
                  <a:srgbClr val="55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mappings (RAW → SDTM) transferred directly onto the blank CRF — but the spec is built on the non-unique-pages CRF while annotation is done on unique pages. Direct overlay isn't practical without manual reconciliation.</a:t>
            </a:r>
            <a:endParaRPr lang="en-US" sz="1130" dirty="0"/>
          </a:p>
        </p:txBody>
      </p:sp>
      <p:sp>
        <p:nvSpPr>
          <p:cNvPr id="16" name="Shape 13"/>
          <p:cNvSpPr/>
          <p:nvPr/>
        </p:nvSpPr>
        <p:spPr>
          <a:xfrm>
            <a:off x="6309360" y="2139696"/>
            <a:ext cx="539496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E4E1E5"/>
            </a:solidFill>
            <a:prstDash val="solid"/>
          </a:ln>
          <a:effectLst>
            <a:outerShdw blurRad="76200" dist="25400" dir="5400000" algn="bl" rotWithShape="0">
              <a:srgbClr val="88888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10085832" y="2359152"/>
            <a:ext cx="1399032" cy="329184"/>
          </a:xfrm>
          <a:prstGeom prst="roundRect">
            <a:avLst>
              <a:gd name="adj" fmla="val 50000"/>
            </a:avLst>
          </a:prstGeom>
          <a:solidFill>
            <a:srgbClr val="8C8C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10085832" y="2359152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547104" y="2377440"/>
            <a:ext cx="603504" cy="603504"/>
          </a:xfrm>
          <a:prstGeom prst="ellipse">
            <a:avLst/>
          </a:prstGeom>
          <a:solidFill>
            <a:srgbClr val="003865"/>
          </a:solidFill>
          <a:ln/>
          <a:effectLst>
            <a:outerShdw blurRad="76200" dist="25400" dir="5400000" algn="bl" rotWithShape="0">
              <a:srgbClr val="88888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0" name="Image 1" descr="/tmp/build/icons/ro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4015" y="2534351"/>
            <a:ext cx="289682" cy="28968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260336" y="2322576"/>
            <a:ext cx="2734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9DB0AC"/>
                </a:solidFill>
              </a:rPr>
              <a:t>02   </a:t>
            </a:r>
            <a:r>
              <a:rPr lang="en-US" sz="1500" b="1" dirty="0">
                <a:solidFill>
                  <a:srgbClr val="2B2B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Direct prompting with LLMs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7260336" y="2706624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6B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0.6B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6565392" y="3035808"/>
            <a:ext cx="48828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30" dirty="0">
                <a:solidFill>
                  <a:srgbClr val="55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CRF labels to an LLM for the SDTM variable: low accuracy. Invented plausible variables that don't exist (DM.DOB instead of DM.BRTHDTC), differed run-to-run, with no traceability. Not viable for submission.</a:t>
            </a:r>
            <a:endParaRPr lang="en-US" sz="1130" dirty="0"/>
          </a:p>
        </p:txBody>
      </p:sp>
      <p:sp>
        <p:nvSpPr>
          <p:cNvPr id="24" name="Shape 20"/>
          <p:cNvSpPr/>
          <p:nvPr/>
        </p:nvSpPr>
        <p:spPr>
          <a:xfrm>
            <a:off x="548640" y="4187952"/>
            <a:ext cx="5394960" cy="175564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E4E1E5"/>
            </a:solidFill>
            <a:prstDash val="solid"/>
          </a:ln>
          <a:effectLst>
            <a:outerShdw blurRad="76200" dist="25400" dir="5400000" algn="bl" rotWithShape="0">
              <a:srgbClr val="88888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1"/>
          <p:cNvSpPr/>
          <p:nvPr/>
        </p:nvSpPr>
        <p:spPr>
          <a:xfrm>
            <a:off x="4247388" y="4407408"/>
            <a:ext cx="1476756" cy="329184"/>
          </a:xfrm>
          <a:prstGeom prst="roundRect">
            <a:avLst>
              <a:gd name="adj" fmla="val 50000"/>
            </a:avLst>
          </a:prstGeom>
          <a:solidFill>
            <a:srgbClr val="B5820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2"/>
          <p:cNvSpPr/>
          <p:nvPr/>
        </p:nvSpPr>
        <p:spPr>
          <a:xfrm>
            <a:off x="4247388" y="4407408"/>
            <a:ext cx="14767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 context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786384" y="4425696"/>
            <a:ext cx="603504" cy="603504"/>
          </a:xfrm>
          <a:prstGeom prst="ellipse">
            <a:avLst/>
          </a:prstGeom>
          <a:solidFill>
            <a:srgbClr val="003865"/>
          </a:solidFill>
          <a:ln/>
          <a:effectLst>
            <a:outerShdw blurRad="76200" dist="25400" dir="5400000" algn="bl" rotWithShape="0">
              <a:srgbClr val="88888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8" name="Image 2" descr="/tmp/build/icons/vect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295" y="4582607"/>
            <a:ext cx="289682" cy="28968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499616" y="4370832"/>
            <a:ext cx="26563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9DB0AC"/>
                </a:solidFill>
              </a:rPr>
              <a:t>03   </a:t>
            </a:r>
            <a:r>
              <a:rPr lang="en-US" sz="1500" b="1" dirty="0">
                <a:solidFill>
                  <a:srgbClr val="2B2B2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Vector similarity matching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1499616" y="4754880"/>
            <a:ext cx="32049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6B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BGE-small-en + FAISS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804672" y="5084064"/>
            <a:ext cx="48828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30" dirty="0">
                <a:solidFill>
                  <a:srgbClr val="55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encoded as vectors; nearest SDTM match found mathematically. Low accuracy, but no hallucinations. "Result" is identical on VS / LB / EG, so it can't tell VS.VSORRES from LB.LBORRES — it lacks form-level context.</a:t>
            </a:r>
            <a:endParaRPr lang="en-US" sz="1130" dirty="0"/>
          </a:p>
        </p:txBody>
      </p:sp>
      <p:sp>
        <p:nvSpPr>
          <p:cNvPr id="32" name="Shape 27"/>
          <p:cNvSpPr/>
          <p:nvPr/>
        </p:nvSpPr>
        <p:spPr>
          <a:xfrm>
            <a:off x="6309360" y="4187952"/>
            <a:ext cx="5394960" cy="1755648"/>
          </a:xfrm>
          <a:prstGeom prst="roundRect">
            <a:avLst>
              <a:gd name="adj" fmla="val 5208"/>
            </a:avLst>
          </a:prstGeom>
          <a:solidFill>
            <a:srgbClr val="F6EEF4"/>
          </a:solidFill>
          <a:ln w="25400">
            <a:solidFill>
              <a:srgbClr val="830051"/>
            </a:solidFill>
            <a:prstDash val="solid"/>
          </a:ln>
          <a:effectLst>
            <a:outerShdw blurRad="76200" dist="25400" dir="5400000" algn="bl" rotWithShape="0">
              <a:srgbClr val="88888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28"/>
          <p:cNvSpPr/>
          <p:nvPr/>
        </p:nvSpPr>
        <p:spPr>
          <a:xfrm>
            <a:off x="10707624" y="4407408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8300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29"/>
          <p:cNvSpPr/>
          <p:nvPr/>
        </p:nvSpPr>
        <p:spPr>
          <a:xfrm>
            <a:off x="10707624" y="440740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6547104" y="4425696"/>
            <a:ext cx="603504" cy="603504"/>
          </a:xfrm>
          <a:prstGeom prst="ellipse">
            <a:avLst/>
          </a:prstGeom>
          <a:solidFill>
            <a:srgbClr val="830051"/>
          </a:solidFill>
          <a:ln/>
          <a:effectLst>
            <a:outerShdw blurRad="76200" dist="25400" dir="5400000" algn="bl" rotWithShape="0">
              <a:srgbClr val="88888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6" name="Image 3" descr="/tmp/build/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4015" y="4582607"/>
            <a:ext cx="289682" cy="289682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7260336" y="4370832"/>
            <a:ext cx="3355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9DB0AC"/>
                </a:solidFill>
              </a:rPr>
              <a:t>04   </a:t>
            </a:r>
            <a:r>
              <a:rPr lang="en-US" sz="1500" b="1" dirty="0">
                <a:solidFill>
                  <a:srgbClr val="83005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Specification-driven resolution</a:t>
            </a:r>
            <a:endParaRPr lang="en-US" sz="1300" dirty="0"/>
          </a:p>
        </p:txBody>
      </p:sp>
      <p:sp>
        <p:nvSpPr>
          <p:cNvPr id="38" name="Text 32"/>
          <p:cNvSpPr/>
          <p:nvPr/>
        </p:nvSpPr>
        <p:spPr>
          <a:xfrm>
            <a:off x="7260336" y="4754880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6B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approach</a:t>
            </a:r>
            <a:endParaRPr lang="en-US" sz="1150" dirty="0"/>
          </a:p>
        </p:txBody>
      </p:sp>
      <p:sp>
        <p:nvSpPr>
          <p:cNvPr id="39" name="Text 33"/>
          <p:cNvSpPr/>
          <p:nvPr/>
        </p:nvSpPr>
        <p:spPr>
          <a:xfrm>
            <a:off x="6565392" y="5084064"/>
            <a:ext cx="48828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3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SDTM specs parsed into per-form knowledge bases — each form gets its own scoped, valid mappings. Form-aware, fully traceable, deterministic output. This is the approach taken forward.</a:t>
            </a:r>
            <a:endParaRPr lang="en-US" sz="11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D00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83005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High-level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59007" y="420624"/>
            <a:ext cx="384048" cy="384048"/>
          </a:xfrm>
          <a:prstGeom prst="ellipse">
            <a:avLst/>
          </a:prstGeom>
          <a:solidFill>
            <a:srgbClr val="8300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1259007" y="420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aCRF Annotation Engine</a:t>
            </a:r>
            <a:r>
              <a:rPr lang="en-US" sz="900" dirty="0">
                <a:solidFill>
                  <a:srgbClr val="9DB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AstraZeneca  ·  R&amp;I Statistical Programming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970166" cy="3611880"/>
          </a:xfrm>
          <a:prstGeom prst="roundRect">
            <a:avLst>
              <a:gd name="adj" fmla="val 4641"/>
            </a:avLst>
          </a:prstGeom>
          <a:solidFill>
            <a:srgbClr val="FFFFFF"/>
          </a:solidFill>
          <a:ln w="12700">
            <a:solidFill>
              <a:srgbClr val="E4E1E5"/>
            </a:solidFill>
            <a:prstDash val="solid"/>
          </a:ln>
          <a:effectLst>
            <a:outerShdw blurRad="76200" dist="25400" dir="5400000" algn="bl" rotWithShape="0">
              <a:srgbClr val="88888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1970166" cy="1371600"/>
          </a:xfrm>
          <a:prstGeom prst="roundRect">
            <a:avLst>
              <a:gd name="adj" fmla="val 6667"/>
            </a:avLst>
          </a:prstGeom>
          <a:solidFill>
            <a:srgbClr val="00386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1970166" cy="320040"/>
          </a:xfrm>
          <a:prstGeom prst="rect">
            <a:avLst/>
          </a:prstGeom>
          <a:solidFill>
            <a:srgbClr val="00386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0" descr="/tmp/build/icons/inpu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8158" y="2393899"/>
            <a:ext cx="351130" cy="35113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58368" y="3026664"/>
            <a:ext cx="17507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94944" y="3447288"/>
            <a:ext cx="167755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83005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Input Layer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31520" y="4178808"/>
            <a:ext cx="160440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80" dirty="0">
                <a:solidFill>
                  <a:srgbClr val="55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CRF PDF, AZ RAW-to-SDTM spec, AZ SDTM standards &amp; controlled terminology — the essential inputs.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2500518" y="2423160"/>
            <a:ext cx="329184" cy="457200"/>
          </a:xfrm>
          <a:prstGeom prst="chevron">
            <a:avLst/>
          </a:prstGeom>
          <a:solidFill>
            <a:srgbClr val="9DB0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2829702" y="1965960"/>
            <a:ext cx="1970166" cy="3611880"/>
          </a:xfrm>
          <a:prstGeom prst="roundRect">
            <a:avLst>
              <a:gd name="adj" fmla="val 4641"/>
            </a:avLst>
          </a:prstGeom>
          <a:solidFill>
            <a:srgbClr val="FFFFFF"/>
          </a:solidFill>
          <a:ln w="12700">
            <a:solidFill>
              <a:srgbClr val="E4E1E5"/>
            </a:solidFill>
            <a:prstDash val="solid"/>
          </a:ln>
          <a:effectLst>
            <a:outerShdw blurRad="76200" dist="25400" dir="5400000" algn="bl" rotWithShape="0">
              <a:srgbClr val="88888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2829702" y="1965960"/>
            <a:ext cx="1970166" cy="1371600"/>
          </a:xfrm>
          <a:prstGeom prst="roundRect">
            <a:avLst>
              <a:gd name="adj" fmla="val 6667"/>
            </a:avLst>
          </a:prstGeom>
          <a:solidFill>
            <a:srgbClr val="8300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2829702" y="3017520"/>
            <a:ext cx="1970166" cy="320040"/>
          </a:xfrm>
          <a:prstGeom prst="rect">
            <a:avLst/>
          </a:prstGeom>
          <a:solidFill>
            <a:srgbClr val="83005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1" descr="/tmp/build/icons/d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221" y="2393899"/>
            <a:ext cx="351130" cy="35113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939430" y="3026664"/>
            <a:ext cx="17507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2976006" y="3447288"/>
            <a:ext cx="167755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83005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Cache &amp; Index Builder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3012582" y="4178808"/>
            <a:ext cx="160440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80" dirty="0">
                <a:solidFill>
                  <a:srgbClr val="55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Excel specs into structured JSON knowledge bases (openpyxl, json, pathlib); builds registries &amp; lookup tables for fast indexing.</a:t>
            </a:r>
            <a:endParaRPr lang="en-US" sz="1080" dirty="0"/>
          </a:p>
        </p:txBody>
      </p:sp>
      <p:sp>
        <p:nvSpPr>
          <p:cNvPr id="24" name="Shape 20"/>
          <p:cNvSpPr/>
          <p:nvPr/>
        </p:nvSpPr>
        <p:spPr>
          <a:xfrm>
            <a:off x="4781580" y="2423160"/>
            <a:ext cx="329184" cy="457200"/>
          </a:xfrm>
          <a:prstGeom prst="chevron">
            <a:avLst/>
          </a:prstGeom>
          <a:solidFill>
            <a:srgbClr val="9DB0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1"/>
          <p:cNvSpPr/>
          <p:nvPr/>
        </p:nvSpPr>
        <p:spPr>
          <a:xfrm>
            <a:off x="5110764" y="1965960"/>
            <a:ext cx="1970166" cy="3611880"/>
          </a:xfrm>
          <a:prstGeom prst="roundRect">
            <a:avLst>
              <a:gd name="adj" fmla="val 4641"/>
            </a:avLst>
          </a:prstGeom>
          <a:solidFill>
            <a:srgbClr val="FFFFFF"/>
          </a:solidFill>
          <a:ln w="12700">
            <a:solidFill>
              <a:srgbClr val="E4E1E5"/>
            </a:solidFill>
            <a:prstDash val="solid"/>
          </a:ln>
          <a:effectLst>
            <a:outerShdw blurRad="76200" dist="25400" dir="5400000" algn="bl" rotWithShape="0">
              <a:srgbClr val="88888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2"/>
          <p:cNvSpPr/>
          <p:nvPr/>
        </p:nvSpPr>
        <p:spPr>
          <a:xfrm>
            <a:off x="5110764" y="1965960"/>
            <a:ext cx="1970166" cy="1371600"/>
          </a:xfrm>
          <a:prstGeom prst="roundRect">
            <a:avLst>
              <a:gd name="adj" fmla="val 6667"/>
            </a:avLst>
          </a:prstGeom>
          <a:solidFill>
            <a:srgbClr val="00386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3"/>
          <p:cNvSpPr/>
          <p:nvPr/>
        </p:nvSpPr>
        <p:spPr>
          <a:xfrm>
            <a:off x="5110764" y="3017520"/>
            <a:ext cx="1970166" cy="320040"/>
          </a:xfrm>
          <a:prstGeom prst="rect">
            <a:avLst/>
          </a:prstGeom>
          <a:solidFill>
            <a:srgbClr val="00386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mage 2" descr="/tmp/build/icons/par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0283" y="2393899"/>
            <a:ext cx="351130" cy="35113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220492" y="3026664"/>
            <a:ext cx="17507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5257068" y="3447288"/>
            <a:ext cx="167755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83005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PDF Parsing Engine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5293644" y="4178808"/>
            <a:ext cx="160440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80" dirty="0">
                <a:solidFill>
                  <a:srgbClr val="55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extracts form structure, labels, positions &amp; codelist values; regex normalisation strips instructional text &amp; helper fields.</a:t>
            </a:r>
            <a:endParaRPr lang="en-US" sz="1080" dirty="0"/>
          </a:p>
        </p:txBody>
      </p:sp>
      <p:sp>
        <p:nvSpPr>
          <p:cNvPr id="33" name="Shape 28"/>
          <p:cNvSpPr/>
          <p:nvPr/>
        </p:nvSpPr>
        <p:spPr>
          <a:xfrm>
            <a:off x="7062643" y="2423160"/>
            <a:ext cx="329184" cy="457200"/>
          </a:xfrm>
          <a:prstGeom prst="chevron">
            <a:avLst/>
          </a:prstGeom>
          <a:solidFill>
            <a:srgbClr val="9DB0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29"/>
          <p:cNvSpPr/>
          <p:nvPr/>
        </p:nvSpPr>
        <p:spPr>
          <a:xfrm>
            <a:off x="7391827" y="1965960"/>
            <a:ext cx="1970166" cy="3611880"/>
          </a:xfrm>
          <a:prstGeom prst="roundRect">
            <a:avLst>
              <a:gd name="adj" fmla="val 4641"/>
            </a:avLst>
          </a:prstGeom>
          <a:solidFill>
            <a:srgbClr val="FFFFFF"/>
          </a:solidFill>
          <a:ln w="12700">
            <a:solidFill>
              <a:srgbClr val="E4E1E5"/>
            </a:solidFill>
            <a:prstDash val="solid"/>
          </a:ln>
          <a:effectLst>
            <a:outerShdw blurRad="76200" dist="25400" dir="5400000" algn="bl" rotWithShape="0">
              <a:srgbClr val="88888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0"/>
          <p:cNvSpPr/>
          <p:nvPr/>
        </p:nvSpPr>
        <p:spPr>
          <a:xfrm>
            <a:off x="7391827" y="1965960"/>
            <a:ext cx="1970166" cy="1371600"/>
          </a:xfrm>
          <a:prstGeom prst="roundRect">
            <a:avLst>
              <a:gd name="adj" fmla="val 6667"/>
            </a:avLst>
          </a:prstGeom>
          <a:solidFill>
            <a:srgbClr val="8300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1"/>
          <p:cNvSpPr/>
          <p:nvPr/>
        </p:nvSpPr>
        <p:spPr>
          <a:xfrm>
            <a:off x="7391827" y="3017520"/>
            <a:ext cx="1970166" cy="320040"/>
          </a:xfrm>
          <a:prstGeom prst="rect">
            <a:avLst/>
          </a:prstGeom>
          <a:solidFill>
            <a:srgbClr val="83005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8" name="Image 3" descr="/tmp/build/icons/layer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1345" y="2393899"/>
            <a:ext cx="351130" cy="35113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7501555" y="3026664"/>
            <a:ext cx="17507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50" dirty="0"/>
          </a:p>
        </p:txBody>
      </p:sp>
      <p:sp>
        <p:nvSpPr>
          <p:cNvPr id="40" name="Text 34"/>
          <p:cNvSpPr/>
          <p:nvPr/>
        </p:nvSpPr>
        <p:spPr>
          <a:xfrm>
            <a:off x="7538131" y="3447288"/>
            <a:ext cx="167755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83005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Resolution Engine</a:t>
            </a:r>
            <a:endParaRPr lang="en-US" sz="1400" dirty="0"/>
          </a:p>
        </p:txBody>
      </p:sp>
      <p:sp>
        <p:nvSpPr>
          <p:cNvPr id="41" name="Text 35"/>
          <p:cNvSpPr/>
          <p:nvPr/>
        </p:nvSpPr>
        <p:spPr>
          <a:xfrm>
            <a:off x="7574707" y="4178808"/>
            <a:ext cx="160440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80" dirty="0">
                <a:solidFill>
                  <a:srgbClr val="55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tiers: exact form-scoped match → cross-module match → flags “not submitted”. Each match is confidence-scored; only unsure fields escalate. ~90% mapped automatically, ~10% routed to human review.</a:t>
            </a:r>
            <a:endParaRPr lang="en-US" sz="1080" dirty="0"/>
          </a:p>
        </p:txBody>
      </p:sp>
      <p:sp>
        <p:nvSpPr>
          <p:cNvPr id="42" name="Shape 36"/>
          <p:cNvSpPr/>
          <p:nvPr/>
        </p:nvSpPr>
        <p:spPr>
          <a:xfrm>
            <a:off x="9343705" y="2423160"/>
            <a:ext cx="329184" cy="457200"/>
          </a:xfrm>
          <a:prstGeom prst="chevron">
            <a:avLst/>
          </a:prstGeom>
          <a:solidFill>
            <a:srgbClr val="9DB0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37"/>
          <p:cNvSpPr/>
          <p:nvPr/>
        </p:nvSpPr>
        <p:spPr>
          <a:xfrm>
            <a:off x="9672889" y="1965960"/>
            <a:ext cx="1970166" cy="3611880"/>
          </a:xfrm>
          <a:prstGeom prst="roundRect">
            <a:avLst>
              <a:gd name="adj" fmla="val 4641"/>
            </a:avLst>
          </a:prstGeom>
          <a:solidFill>
            <a:srgbClr val="FFFFFF"/>
          </a:solidFill>
          <a:ln w="12700">
            <a:solidFill>
              <a:srgbClr val="E4E1E5"/>
            </a:solidFill>
            <a:prstDash val="solid"/>
          </a:ln>
          <a:effectLst>
            <a:outerShdw blurRad="76200" dist="25400" dir="5400000" algn="bl" rotWithShape="0">
              <a:srgbClr val="88888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38"/>
          <p:cNvSpPr/>
          <p:nvPr/>
        </p:nvSpPr>
        <p:spPr>
          <a:xfrm>
            <a:off x="9672889" y="1965960"/>
            <a:ext cx="1970166" cy="1371600"/>
          </a:xfrm>
          <a:prstGeom prst="roundRect">
            <a:avLst>
              <a:gd name="adj" fmla="val 6667"/>
            </a:avLst>
          </a:prstGeom>
          <a:solidFill>
            <a:srgbClr val="00386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39"/>
          <p:cNvSpPr/>
          <p:nvPr/>
        </p:nvSpPr>
        <p:spPr>
          <a:xfrm>
            <a:off x="9672889" y="3017520"/>
            <a:ext cx="1970166" cy="320040"/>
          </a:xfrm>
          <a:prstGeom prst="rect">
            <a:avLst/>
          </a:prstGeom>
          <a:solidFill>
            <a:srgbClr val="00386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7" name="Image 4" descr="/tmp/build/icons/pen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82407" y="2393899"/>
            <a:ext cx="351130" cy="351130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9782617" y="3026664"/>
            <a:ext cx="17507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50" dirty="0"/>
          </a:p>
        </p:txBody>
      </p:sp>
      <p:sp>
        <p:nvSpPr>
          <p:cNvPr id="49" name="Text 42"/>
          <p:cNvSpPr/>
          <p:nvPr/>
        </p:nvSpPr>
        <p:spPr>
          <a:xfrm>
            <a:off x="9819193" y="3447288"/>
            <a:ext cx="167755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83005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PDF Annotation Writer</a:t>
            </a:r>
            <a:endParaRPr lang="en-US" sz="1400" dirty="0"/>
          </a:p>
        </p:txBody>
      </p:sp>
      <p:sp>
        <p:nvSpPr>
          <p:cNvPr id="50" name="Text 43"/>
          <p:cNvSpPr/>
          <p:nvPr/>
        </p:nvSpPr>
        <p:spPr>
          <a:xfrm>
            <a:off x="9855769" y="4178808"/>
            <a:ext cx="160440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80" dirty="0">
                <a:solidFill>
                  <a:srgbClr val="55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writes the annotated CRF — colour-coded domain boxes, dataset headers, codelist codes, overlap avoidance &amp; navigation bookmarks.</a:t>
            </a: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D00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GOOD IS THE OUTPUT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83005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Output quality &amp; metrics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59007" y="420624"/>
            <a:ext cx="384048" cy="384048"/>
          </a:xfrm>
          <a:prstGeom prst="ellipse">
            <a:avLst/>
          </a:prstGeom>
          <a:solidFill>
            <a:srgbClr val="8300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1259007" y="420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aCRF Annotation Engine</a:t>
            </a:r>
            <a:r>
              <a:rPr lang="en-US" sz="900" dirty="0">
                <a:solidFill>
                  <a:srgbClr val="9DB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AstraZeneca  ·  R&amp;I Statistical Programming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64208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3005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Confidence by resolving tier</a:t>
            </a:r>
            <a:endParaRPr lang="en-US" sz="15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57200" y="2048256"/>
          <a:ext cx="58521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506577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6B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varies 0.85–0.95 with label similarity — only accepted above threshold.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629400" y="1664208"/>
            <a:ext cx="5013655" cy="1591056"/>
          </a:xfrm>
          <a:prstGeom prst="roundRect">
            <a:avLst>
              <a:gd name="adj" fmla="val 5747"/>
            </a:avLst>
          </a:prstGeom>
          <a:solidFill>
            <a:srgbClr val="F6EEF4"/>
          </a:solidFill>
          <a:ln/>
          <a:effectLst>
            <a:outerShdw blurRad="76200" dist="25400" dir="5400000" algn="bl" rotWithShape="0">
              <a:srgbClr val="88888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6903720" y="1901952"/>
            <a:ext cx="548640" cy="548640"/>
          </a:xfrm>
          <a:prstGeom prst="ellipse">
            <a:avLst/>
          </a:prstGeom>
          <a:solidFill>
            <a:srgbClr val="830051"/>
          </a:solidFill>
          <a:ln/>
          <a:effectLst>
            <a:outerShdw blurRad="76200" dist="25400" dir="5400000" algn="bl" rotWithShape="0">
              <a:srgbClr val="88888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0" descr="/tmp/build/icons/palet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6366" y="2044598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62088" y="1883664"/>
            <a:ext cx="3824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3005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Visual output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903720" y="2432304"/>
            <a:ext cx="44650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6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Colour-coded annotation boxes by domain class, dataset headers per page, codelist codes in parentheses, and PDF bookmarks for navigation — acceptable first-draft quality.</a:t>
            </a:r>
            <a:endParaRPr lang="en-US" sz="1160" dirty="0"/>
          </a:p>
        </p:txBody>
      </p:sp>
      <p:sp>
        <p:nvSpPr>
          <p:cNvPr id="15" name="Shape 11"/>
          <p:cNvSpPr/>
          <p:nvPr/>
        </p:nvSpPr>
        <p:spPr>
          <a:xfrm>
            <a:off x="6629400" y="3419856"/>
            <a:ext cx="5013655" cy="2889504"/>
          </a:xfrm>
          <a:prstGeom prst="roundRect">
            <a:avLst>
              <a:gd name="adj" fmla="val 3165"/>
            </a:avLst>
          </a:prstGeom>
          <a:solidFill>
            <a:srgbClr val="003865"/>
          </a:solidFill>
          <a:ln/>
          <a:effectLst>
            <a:outerShdw blurRad="88900" dist="38100" dir="5400000" algn="bl" rotWithShape="0">
              <a:srgbClr val="9A889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6940296" y="3716243"/>
            <a:ext cx="446593" cy="446593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1" descr="/tmp/build/icons/perc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0631" y="3851087"/>
            <a:ext cx="190561" cy="19056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616952" y="3675888"/>
            <a:ext cx="3824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the metrics are defined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6940296" y="4479036"/>
            <a:ext cx="137160" cy="137160"/>
          </a:xfrm>
          <a:prstGeom prst="ellipse">
            <a:avLst/>
          </a:prstGeom>
          <a:solidFill>
            <a:srgbClr val="68D2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7196328" y="4454590"/>
            <a:ext cx="4172407" cy="428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rate — </a:t>
            </a:r>
            <a:r>
              <a:rPr lang="en-US" sz="1150" dirty="0">
                <a:solidFill>
                  <a:srgbClr val="CF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annotated ÷ total data-carrying fields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940296" y="5001768"/>
            <a:ext cx="137160" cy="137160"/>
          </a:xfrm>
          <a:prstGeom prst="ellipse">
            <a:avLst/>
          </a:prstGeom>
          <a:solidFill>
            <a:srgbClr val="68D2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7"/>
          <p:cNvSpPr/>
          <p:nvPr/>
        </p:nvSpPr>
        <p:spPr>
          <a:xfrm>
            <a:off x="7196328" y="4882896"/>
            <a:ext cx="417240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— </a:t>
            </a:r>
            <a:r>
              <a:rPr lang="en-US" sz="1150" dirty="0">
                <a:solidFill>
                  <a:srgbClr val="CF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from the tier that resolved a field, averaged across all resolved fields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940296" y="5678424"/>
            <a:ext cx="137160" cy="137160"/>
          </a:xfrm>
          <a:prstGeom prst="ellipse">
            <a:avLst/>
          </a:prstGeom>
          <a:solidFill>
            <a:srgbClr val="68D2D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19"/>
          <p:cNvSpPr/>
          <p:nvPr/>
        </p:nvSpPr>
        <p:spPr>
          <a:xfrm>
            <a:off x="7196328" y="5559552"/>
            <a:ext cx="417240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coverage — </a:t>
            </a:r>
            <a:r>
              <a:rPr lang="en-US" sz="1150" dirty="0">
                <a:solidFill>
                  <a:srgbClr val="CF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where every field resolved ÷ total forms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D000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STANDS &amp; 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83005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Summary, refinement areas &amp; next step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59007" y="420624"/>
            <a:ext cx="384048" cy="384048"/>
          </a:xfrm>
          <a:prstGeom prst="ellipse">
            <a:avLst/>
          </a:prstGeom>
          <a:solidFill>
            <a:srgbClr val="8300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1259007" y="420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aCRF Annotation Engine</a:t>
            </a:r>
            <a:r>
              <a:rPr lang="en-US" sz="900" dirty="0">
                <a:solidFill>
                  <a:srgbClr val="9DB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AstraZeneca  ·  R&amp;I Statistical Programming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64208"/>
            <a:ext cx="4663440" cy="4480560"/>
          </a:xfrm>
          <a:prstGeom prst="roundRect">
            <a:avLst>
              <a:gd name="adj" fmla="val 2449"/>
            </a:avLst>
          </a:prstGeom>
          <a:solidFill>
            <a:srgbClr val="830051"/>
          </a:solidFill>
          <a:ln/>
          <a:effectLst>
            <a:outerShdw blurRad="88900" dist="38100" dir="5400000" algn="bl" rotWithShape="0">
              <a:srgbClr val="9A8895">
                <a:alpha val="2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41248" y="1956816"/>
            <a:ext cx="676656" cy="67665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0" descr="/tmp/build/icons/troph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179" y="2132747"/>
            <a:ext cx="324795" cy="32479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45920" y="1938528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Strongest-performing domains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841248" y="2761488"/>
            <a:ext cx="4078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50" dirty="0">
                <a:solidFill>
                  <a:srgbClr val="EA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at 98% confidence, covering the bulk of standard clinical-trial forms: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41248" y="3364992"/>
            <a:ext cx="698602" cy="512064"/>
          </a:xfrm>
          <a:prstGeom prst="roundRect">
            <a:avLst>
              <a:gd name="adj" fmla="val 1785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68D2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841248" y="3364992"/>
            <a:ext cx="69860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686154" y="3364992"/>
            <a:ext cx="698602" cy="512064"/>
          </a:xfrm>
          <a:prstGeom prst="roundRect">
            <a:avLst>
              <a:gd name="adj" fmla="val 1785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68D2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1686154" y="3364992"/>
            <a:ext cx="69860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2531059" y="3364992"/>
            <a:ext cx="698602" cy="512064"/>
          </a:xfrm>
          <a:prstGeom prst="roundRect">
            <a:avLst>
              <a:gd name="adj" fmla="val 1785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68D2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2531059" y="3364992"/>
            <a:ext cx="69860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375965" y="3364992"/>
            <a:ext cx="698602" cy="512064"/>
          </a:xfrm>
          <a:prstGeom prst="roundRect">
            <a:avLst>
              <a:gd name="adj" fmla="val 1785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68D2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3375965" y="3364992"/>
            <a:ext cx="69860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LB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220870" y="3364992"/>
            <a:ext cx="698602" cy="512064"/>
          </a:xfrm>
          <a:prstGeom prst="roundRect">
            <a:avLst>
              <a:gd name="adj" fmla="val 1785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68D2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4220870" y="3364992"/>
            <a:ext cx="69860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CM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41248" y="4023360"/>
            <a:ext cx="698602" cy="512064"/>
          </a:xfrm>
          <a:prstGeom prst="roundRect">
            <a:avLst>
              <a:gd name="adj" fmla="val 1785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68D2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841248" y="4023360"/>
            <a:ext cx="69860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EG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1686154" y="4023360"/>
            <a:ext cx="698602" cy="512064"/>
          </a:xfrm>
          <a:prstGeom prst="roundRect">
            <a:avLst>
              <a:gd name="adj" fmla="val 1785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68D2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1686154" y="4023360"/>
            <a:ext cx="69860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MH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2531059" y="4023360"/>
            <a:ext cx="698602" cy="512064"/>
          </a:xfrm>
          <a:prstGeom prst="roundRect">
            <a:avLst>
              <a:gd name="adj" fmla="val 1785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68D2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2531059" y="4023360"/>
            <a:ext cx="69860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DM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3375965" y="4023360"/>
            <a:ext cx="698602" cy="512064"/>
          </a:xfrm>
          <a:prstGeom prst="roundRect">
            <a:avLst>
              <a:gd name="adj" fmla="val 1785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68D2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3375965" y="4023360"/>
            <a:ext cx="69860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IE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4220870" y="4023360"/>
            <a:ext cx="698602" cy="512064"/>
          </a:xfrm>
          <a:prstGeom prst="roundRect">
            <a:avLst>
              <a:gd name="adj" fmla="val 1785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68D2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4220870" y="4023360"/>
            <a:ext cx="69860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SV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841248" y="5431536"/>
            <a:ext cx="4078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68D2D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98% confidence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5532120" y="1664208"/>
            <a:ext cx="61109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83005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Refinement areas &amp; next step</a:t>
            </a:r>
            <a:endParaRPr lang="en-US" sz="1450" dirty="0"/>
          </a:p>
        </p:txBody>
      </p:sp>
      <p:sp>
        <p:nvSpPr>
          <p:cNvPr id="34" name="Shape 31"/>
          <p:cNvSpPr/>
          <p:nvPr/>
        </p:nvSpPr>
        <p:spPr>
          <a:xfrm>
            <a:off x="5532120" y="2121408"/>
            <a:ext cx="2909164" cy="1755648"/>
          </a:xfrm>
          <a:prstGeom prst="roundRect">
            <a:avLst>
              <a:gd name="adj" fmla="val 5208"/>
            </a:avLst>
          </a:prstGeom>
          <a:solidFill>
            <a:srgbClr val="EEF3F6"/>
          </a:solidFill>
          <a:ln/>
          <a:effectLst>
            <a:outerShdw blurRad="76200" dist="25400" dir="5400000" algn="bl" rotWithShape="0">
              <a:srgbClr val="88888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6" name="Image 1" descr="/tmp/build/icons/wren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4713" y="2474001"/>
            <a:ext cx="245791" cy="245791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6373368" y="2340864"/>
            <a:ext cx="18484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0386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Multi-domain forms</a:t>
            </a:r>
            <a:endParaRPr lang="en-US" sz="1400" dirty="0"/>
          </a:p>
        </p:txBody>
      </p:sp>
      <p:sp>
        <p:nvSpPr>
          <p:cNvPr id="38" name="Text 34"/>
          <p:cNvSpPr/>
          <p:nvPr/>
        </p:nvSpPr>
        <p:spPr>
          <a:xfrm>
            <a:off x="5769864" y="2907792"/>
            <a:ext cx="24336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55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that could fit two domains (CE / FA / MH) need protocol context.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8733892" y="2121408"/>
            <a:ext cx="2909164" cy="1755648"/>
          </a:xfrm>
          <a:prstGeom prst="roundRect">
            <a:avLst>
              <a:gd name="adj" fmla="val 5208"/>
            </a:avLst>
          </a:prstGeom>
          <a:solidFill>
            <a:srgbClr val="EEF3F6"/>
          </a:solidFill>
          <a:ln/>
          <a:effectLst>
            <a:outerShdw blurRad="76200" dist="25400" dir="5400000" algn="bl" rotWithShape="0">
              <a:srgbClr val="88888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1" name="Image 2" descr="/tmp/build/icons/wren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6484" y="2474001"/>
            <a:ext cx="245791" cy="245791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9575140" y="2340864"/>
            <a:ext cx="18484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0386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Gating &amp; supplemental fields</a:t>
            </a:r>
            <a:endParaRPr lang="en-US" sz="1400" dirty="0"/>
          </a:p>
        </p:txBody>
      </p:sp>
      <p:sp>
        <p:nvSpPr>
          <p:cNvPr id="43" name="Text 38"/>
          <p:cNvSpPr/>
          <p:nvPr/>
        </p:nvSpPr>
        <p:spPr>
          <a:xfrm>
            <a:off x="8971636" y="2907792"/>
            <a:ext cx="24336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55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Yes/No triggers and SUPP-- fields need extra spec detail.</a:t>
            </a:r>
            <a:endParaRPr lang="en-US" sz="1100" dirty="0"/>
          </a:p>
        </p:txBody>
      </p:sp>
      <p:sp>
        <p:nvSpPr>
          <p:cNvPr id="44" name="Shape 39"/>
          <p:cNvSpPr/>
          <p:nvPr/>
        </p:nvSpPr>
        <p:spPr>
          <a:xfrm>
            <a:off x="5532120" y="4133088"/>
            <a:ext cx="2909164" cy="1755648"/>
          </a:xfrm>
          <a:prstGeom prst="roundRect">
            <a:avLst>
              <a:gd name="adj" fmla="val 5208"/>
            </a:avLst>
          </a:prstGeom>
          <a:solidFill>
            <a:srgbClr val="EEF3F6"/>
          </a:solidFill>
          <a:ln/>
          <a:effectLst>
            <a:outerShdw blurRad="76200" dist="25400" dir="5400000" algn="bl" rotWithShape="0">
              <a:srgbClr val="88888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6" name="Image 3" descr="/tmp/build/icons/wren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4713" y="4485681"/>
            <a:ext cx="245791" cy="245791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6373368" y="4352544"/>
            <a:ext cx="18484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0386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Duplicate labels</a:t>
            </a:r>
            <a:endParaRPr lang="en-US" sz="1400" dirty="0"/>
          </a:p>
        </p:txBody>
      </p:sp>
      <p:sp>
        <p:nvSpPr>
          <p:cNvPr id="48" name="Text 42"/>
          <p:cNvSpPr/>
          <p:nvPr/>
        </p:nvSpPr>
        <p:spPr>
          <a:xfrm>
            <a:off x="5769864" y="4919472"/>
            <a:ext cx="24336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55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label used two ways (coded vs free text) — field-type awareness planned.</a:t>
            </a:r>
            <a:endParaRPr lang="en-US" sz="1100" dirty="0"/>
          </a:p>
        </p:txBody>
      </p:sp>
      <p:sp>
        <p:nvSpPr>
          <p:cNvPr id="49" name="Shape 43"/>
          <p:cNvSpPr/>
          <p:nvPr/>
        </p:nvSpPr>
        <p:spPr>
          <a:xfrm>
            <a:off x="8733892" y="4133088"/>
            <a:ext cx="2909164" cy="1755648"/>
          </a:xfrm>
          <a:prstGeom prst="roundRect">
            <a:avLst>
              <a:gd name="adj" fmla="val 5208"/>
            </a:avLst>
          </a:prstGeom>
          <a:solidFill>
            <a:srgbClr val="EEF3F6"/>
          </a:solidFill>
          <a:ln/>
          <a:effectLst>
            <a:outerShdw blurRad="76200" dist="25400" dir="5400000" algn="bl" rotWithShape="0">
              <a:srgbClr val="88888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1" name="Image 4" descr="/tmp/build/icons/wren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6484" y="4485681"/>
            <a:ext cx="245791" cy="245791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9575140" y="4352544"/>
            <a:ext cx="18484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0386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Next step — LLM assist (→ 97–99%)</a:t>
            </a:r>
            <a:endParaRPr lang="en-US" sz="1400" dirty="0"/>
          </a:p>
        </p:txBody>
      </p:sp>
      <p:sp>
        <p:nvSpPr>
          <p:cNvPr id="53" name="Text 46"/>
          <p:cNvSpPr/>
          <p:nvPr/>
        </p:nvSpPr>
        <p:spPr>
          <a:xfrm>
            <a:off x="8971636" y="4919472"/>
            <a:ext cx="24336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55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AZ-approved LLM for the unresolved ~10% only (multi-domain disambiguation, MedDRA fields, low-confidence checks). Core stays standards-based &amp; traceable. Permission requested.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2165</Words>
  <Application>Microsoft Office PowerPoint</Application>
  <PresentationFormat>Widescreen</PresentationFormat>
  <Paragraphs>169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Century Schoolbook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aCRF Annotation Engine</dc:title>
  <dc:subject>PptxGenJS Presentation</dc:subject>
  <dc:creator>aCRF Annotation Engine</dc:creator>
  <cp:lastModifiedBy>Agarwal, Jhanavi</cp:lastModifiedBy>
  <cp:revision>1</cp:revision>
  <dcterms:created xsi:type="dcterms:W3CDTF">2026-06-16T09:06:08Z</dcterms:created>
  <dcterms:modified xsi:type="dcterms:W3CDTF">2026-06-17T06:21:49Z</dcterms:modified>
</cp:coreProperties>
</file>