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1" r:id="rId6"/>
    <p:sldId id="265" r:id="rId8"/>
    <p:sldId id="266" r:id="rId9"/>
    <p:sldId id="267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7496FD9-5139-41B4-A5F9-5A2A1CC695A8}" v="42" dt="2026-06-17T05:21:49.35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3" d="100"/>
          <a:sy n="63" d="100"/>
        </p:scale>
        <p:origin x="4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microsoft.com/office/2016/11/relationships/changesInfo" Target="changesInfos/changesInfo1.xml"/><Relationship Id="rId1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garwal, Jhanavi" userId="60879e5b-bb87-4909-9918-932f547c1437" providerId="ADAL" clId="{C6E9D5FC-149B-4956-83EE-45724230973E}"/>
    <pc:docChg chg="undo custSel addSld delSld modSld">
      <pc:chgData name="Agarwal, Jhanavi" userId="60879e5b-bb87-4909-9918-932f547c1437" providerId="ADAL" clId="{C6E9D5FC-149B-4956-83EE-45724230973E}" dt="2026-06-17T06:21:48.995" v="293" actId="1076"/>
      <pc:docMkLst>
        <pc:docMk/>
      </pc:docMkLst>
      <pc:sldChg chg="addSp delSp modSp mod">
        <pc:chgData name="Agarwal, Jhanavi" userId="60879e5b-bb87-4909-9918-932f547c1437" providerId="ADAL" clId="{C6E9D5FC-149B-4956-83EE-45724230973E}" dt="2026-06-17T06:21:48.995" v="293" actId="1076"/>
        <pc:sldMkLst>
          <pc:docMk/>
          <pc:sldMk cId="0" sldId="256"/>
        </pc:sldMkLst>
        <pc:spChg chg="mod">
          <ac:chgData name="Agarwal, Jhanavi" userId="60879e5b-bb87-4909-9918-932f547c1437" providerId="ADAL" clId="{C6E9D5FC-149B-4956-83EE-45724230973E}" dt="2026-06-17T06:21:48.995" v="293" actId="1076"/>
          <ac:spMkLst>
            <pc:docMk/>
            <pc:sldMk cId="0" sldId="256"/>
            <ac:spMk id="4" creationId="{00000000-0000-0000-0000-000000000000}"/>
          </ac:spMkLst>
        </pc:spChg>
        <pc:spChg chg="mod">
          <ac:chgData name="Agarwal, Jhanavi" userId="60879e5b-bb87-4909-9918-932f547c1437" providerId="ADAL" clId="{C6E9D5FC-149B-4956-83EE-45724230973E}" dt="2026-06-17T05:17:10.471" v="14" actId="1076"/>
          <ac:spMkLst>
            <pc:docMk/>
            <pc:sldMk cId="0" sldId="256"/>
            <ac:spMk id="5" creationId="{00000000-0000-0000-0000-000000000000}"/>
          </ac:spMkLst>
        </pc:spChg>
        <pc:spChg chg="mod">
          <ac:chgData name="Agarwal, Jhanavi" userId="60879e5b-bb87-4909-9918-932f547c1437" providerId="ADAL" clId="{C6E9D5FC-149B-4956-83EE-45724230973E}" dt="2026-06-17T05:17:10.471" v="14" actId="1076"/>
          <ac:spMkLst>
            <pc:docMk/>
            <pc:sldMk cId="0" sldId="256"/>
            <ac:spMk id="6" creationId="{00000000-0000-0000-0000-000000000000}"/>
          </ac:spMkLst>
        </pc:spChg>
        <pc:spChg chg="mod">
          <ac:chgData name="Agarwal, Jhanavi" userId="60879e5b-bb87-4909-9918-932f547c1437" providerId="ADAL" clId="{C6E9D5FC-149B-4956-83EE-45724230973E}" dt="2026-06-17T05:17:42.049" v="26" actId="20577"/>
          <ac:spMkLst>
            <pc:docMk/>
            <pc:sldMk cId="0" sldId="256"/>
            <ac:spMk id="7" creationId="{00000000-0000-0000-0000-000000000000}"/>
          </ac:spMkLst>
        </pc:spChg>
        <pc:spChg chg="mod">
          <ac:chgData name="Agarwal, Jhanavi" userId="60879e5b-bb87-4909-9918-932f547c1437" providerId="ADAL" clId="{C6E9D5FC-149B-4956-83EE-45724230973E}" dt="2026-06-17T05:17:59.813" v="27" actId="1076"/>
          <ac:spMkLst>
            <pc:docMk/>
            <pc:sldMk cId="0" sldId="256"/>
            <ac:spMk id="8" creationId="{00000000-0000-0000-0000-000000000000}"/>
          </ac:spMkLst>
        </pc:spChg>
        <pc:spChg chg="mod">
          <ac:chgData name="Agarwal, Jhanavi" userId="60879e5b-bb87-4909-9918-932f547c1437" providerId="ADAL" clId="{C6E9D5FC-149B-4956-83EE-45724230973E}" dt="2026-06-17T05:17:59.813" v="27" actId="1076"/>
          <ac:spMkLst>
            <pc:docMk/>
            <pc:sldMk cId="0" sldId="256"/>
            <ac:spMk id="9" creationId="{00000000-0000-0000-0000-000000000000}"/>
          </ac:spMkLst>
        </pc:spChg>
        <pc:spChg chg="mod">
          <ac:chgData name="Agarwal, Jhanavi" userId="60879e5b-bb87-4909-9918-932f547c1437" providerId="ADAL" clId="{C6E9D5FC-149B-4956-83EE-45724230973E}" dt="2026-06-17T05:17:59.813" v="27" actId="1076"/>
          <ac:spMkLst>
            <pc:docMk/>
            <pc:sldMk cId="0" sldId="256"/>
            <ac:spMk id="10" creationId="{00000000-0000-0000-0000-000000000000}"/>
          </ac:spMkLst>
        </pc:spChg>
        <pc:spChg chg="mod">
          <ac:chgData name="Agarwal, Jhanavi" userId="60879e5b-bb87-4909-9918-932f547c1437" providerId="ADAL" clId="{C6E9D5FC-149B-4956-83EE-45724230973E}" dt="2026-06-17T05:17:59.813" v="27" actId="1076"/>
          <ac:spMkLst>
            <pc:docMk/>
            <pc:sldMk cId="0" sldId="256"/>
            <ac:spMk id="11" creationId="{00000000-0000-0000-0000-000000000000}"/>
          </ac:spMkLst>
        </pc:spChg>
        <pc:spChg chg="mod">
          <ac:chgData name="Agarwal, Jhanavi" userId="60879e5b-bb87-4909-9918-932f547c1437" providerId="ADAL" clId="{C6E9D5FC-149B-4956-83EE-45724230973E}" dt="2026-06-17T05:17:59.813" v="27" actId="1076"/>
          <ac:spMkLst>
            <pc:docMk/>
            <pc:sldMk cId="0" sldId="256"/>
            <ac:spMk id="12" creationId="{00000000-0000-0000-0000-000000000000}"/>
          </ac:spMkLst>
        </pc:spChg>
        <pc:spChg chg="mod">
          <ac:chgData name="Agarwal, Jhanavi" userId="60879e5b-bb87-4909-9918-932f547c1437" providerId="ADAL" clId="{C6E9D5FC-149B-4956-83EE-45724230973E}" dt="2026-06-17T05:17:59.813" v="27" actId="1076"/>
          <ac:spMkLst>
            <pc:docMk/>
            <pc:sldMk cId="0" sldId="256"/>
            <ac:spMk id="13" creationId="{00000000-0000-0000-0000-000000000000}"/>
          </ac:spMkLst>
        </pc:spChg>
        <pc:spChg chg="mod">
          <ac:chgData name="Agarwal, Jhanavi" userId="60879e5b-bb87-4909-9918-932f547c1437" providerId="ADAL" clId="{C6E9D5FC-149B-4956-83EE-45724230973E}" dt="2026-06-17T05:16:50.163" v="13" actId="20577"/>
          <ac:spMkLst>
            <pc:docMk/>
            <pc:sldMk cId="0" sldId="256"/>
            <ac:spMk id="14" creationId="{00000000-0000-0000-0000-000000000000}"/>
          </ac:spMkLst>
        </pc:spChg>
        <pc:spChg chg="add mod">
          <ac:chgData name="Agarwal, Jhanavi" userId="60879e5b-bb87-4909-9918-932f547c1437" providerId="ADAL" clId="{C6E9D5FC-149B-4956-83EE-45724230973E}" dt="2026-06-17T06:08:06.734" v="280" actId="20577"/>
          <ac:spMkLst>
            <pc:docMk/>
            <pc:sldMk cId="0" sldId="256"/>
            <ac:spMk id="15" creationId="{664F7286-D119-5920-6346-F912E1F3A312}"/>
          </ac:spMkLst>
        </pc:spChg>
        <pc:spChg chg="add del mod">
          <ac:chgData name="Agarwal, Jhanavi" userId="60879e5b-bb87-4909-9918-932f547c1437" providerId="ADAL" clId="{C6E9D5FC-149B-4956-83EE-45724230973E}" dt="2026-06-17T05:21:22.374" v="210"/>
          <ac:spMkLst>
            <pc:docMk/>
            <pc:sldMk cId="0" sldId="256"/>
            <ac:spMk id="16" creationId="{83630850-621F-7551-AC69-F6A165F7630C}"/>
          </ac:spMkLst>
        </pc:spChg>
        <pc:spChg chg="add del mod">
          <ac:chgData name="Agarwal, Jhanavi" userId="60879e5b-bb87-4909-9918-932f547c1437" providerId="ADAL" clId="{C6E9D5FC-149B-4956-83EE-45724230973E}" dt="2026-06-17T05:21:22.389" v="215"/>
          <ac:spMkLst>
            <pc:docMk/>
            <pc:sldMk cId="0" sldId="256"/>
            <ac:spMk id="17" creationId="{2CC84886-6887-A37F-E8E6-066A913C81F9}"/>
          </ac:spMkLst>
        </pc:spChg>
        <pc:spChg chg="add del mod">
          <ac:chgData name="Agarwal, Jhanavi" userId="60879e5b-bb87-4909-9918-932f547c1437" providerId="ADAL" clId="{C6E9D5FC-149B-4956-83EE-45724230973E}" dt="2026-06-17T05:21:22.402" v="220"/>
          <ac:spMkLst>
            <pc:docMk/>
            <pc:sldMk cId="0" sldId="256"/>
            <ac:spMk id="18" creationId="{DB6F44AC-AF4F-36D1-0159-C643466813B8}"/>
          </ac:spMkLst>
        </pc:spChg>
        <pc:spChg chg="add del mod">
          <ac:chgData name="Agarwal, Jhanavi" userId="60879e5b-bb87-4909-9918-932f547c1437" providerId="ADAL" clId="{C6E9D5FC-149B-4956-83EE-45724230973E}" dt="2026-06-17T05:21:22.416" v="225"/>
          <ac:spMkLst>
            <pc:docMk/>
            <pc:sldMk cId="0" sldId="256"/>
            <ac:spMk id="19" creationId="{861AC428-3CBA-4B5C-01E8-C65F266CDE56}"/>
          </ac:spMkLst>
        </pc:spChg>
        <pc:spChg chg="add del mod">
          <ac:chgData name="Agarwal, Jhanavi" userId="60879e5b-bb87-4909-9918-932f547c1437" providerId="ADAL" clId="{C6E9D5FC-149B-4956-83EE-45724230973E}" dt="2026-06-17T05:21:22.429" v="230"/>
          <ac:spMkLst>
            <pc:docMk/>
            <pc:sldMk cId="0" sldId="256"/>
            <ac:spMk id="20" creationId="{BB1E1A51-70BE-5F83-E9E6-6A9C6FD4B7BC}"/>
          </ac:spMkLst>
        </pc:spChg>
        <pc:spChg chg="add del mod">
          <ac:chgData name="Agarwal, Jhanavi" userId="60879e5b-bb87-4909-9918-932f547c1437" providerId="ADAL" clId="{C6E9D5FC-149B-4956-83EE-45724230973E}" dt="2026-06-17T05:21:22.443" v="235"/>
          <ac:spMkLst>
            <pc:docMk/>
            <pc:sldMk cId="0" sldId="256"/>
            <ac:spMk id="21" creationId="{70CDC89A-8452-F5AF-A005-125EC930D630}"/>
          </ac:spMkLst>
        </pc:spChg>
        <pc:spChg chg="add del mod">
          <ac:chgData name="Agarwal, Jhanavi" userId="60879e5b-bb87-4909-9918-932f547c1437" providerId="ADAL" clId="{C6E9D5FC-149B-4956-83EE-45724230973E}" dt="2026-06-17T05:21:22.455" v="240"/>
          <ac:spMkLst>
            <pc:docMk/>
            <pc:sldMk cId="0" sldId="256"/>
            <ac:spMk id="22" creationId="{7B72AC2A-03C3-CD86-25F1-0933150FD86D}"/>
          </ac:spMkLst>
        </pc:spChg>
        <pc:spChg chg="add del mod">
          <ac:chgData name="Agarwal, Jhanavi" userId="60879e5b-bb87-4909-9918-932f547c1437" providerId="ADAL" clId="{C6E9D5FC-149B-4956-83EE-45724230973E}" dt="2026-06-17T05:21:22.469" v="245"/>
          <ac:spMkLst>
            <pc:docMk/>
            <pc:sldMk cId="0" sldId="256"/>
            <ac:spMk id="23" creationId="{3637A5C5-450A-6C9E-2F05-EF1BB17D5FDD}"/>
          </ac:spMkLst>
        </pc:spChg>
        <pc:spChg chg="add del mod">
          <ac:chgData name="Agarwal, Jhanavi" userId="60879e5b-bb87-4909-9918-932f547c1437" providerId="ADAL" clId="{C6E9D5FC-149B-4956-83EE-45724230973E}" dt="2026-06-17T05:21:22.485" v="250"/>
          <ac:spMkLst>
            <pc:docMk/>
            <pc:sldMk cId="0" sldId="256"/>
            <ac:spMk id="24" creationId="{E301127A-E799-BBC4-3337-B263B2667484}"/>
          </ac:spMkLst>
        </pc:spChg>
        <pc:spChg chg="add del mod">
          <ac:chgData name="Agarwal, Jhanavi" userId="60879e5b-bb87-4909-9918-932f547c1437" providerId="ADAL" clId="{C6E9D5FC-149B-4956-83EE-45724230973E}" dt="2026-06-17T05:21:22.500" v="255"/>
          <ac:spMkLst>
            <pc:docMk/>
            <pc:sldMk cId="0" sldId="256"/>
            <ac:spMk id="25" creationId="{3911E2A3-26B9-E7F6-9D1D-268B7DF18D2E}"/>
          </ac:spMkLst>
        </pc:spChg>
      </pc:sldChg>
      <pc:sldChg chg="modSp mod">
        <pc:chgData name="Agarwal, Jhanavi" userId="60879e5b-bb87-4909-9918-932f547c1437" providerId="ADAL" clId="{C6E9D5FC-149B-4956-83EE-45724230973E}" dt="2026-06-17T05:24:23.786" v="269" actId="14100"/>
        <pc:sldMkLst>
          <pc:docMk/>
          <pc:sldMk cId="0" sldId="258"/>
        </pc:sldMkLst>
        <pc:spChg chg="mod">
          <ac:chgData name="Agarwal, Jhanavi" userId="60879e5b-bb87-4909-9918-932f547c1437" providerId="ADAL" clId="{C6E9D5FC-149B-4956-83EE-45724230973E}" dt="2026-06-17T05:24:23.786" v="269" actId="14100"/>
          <ac:spMkLst>
            <pc:docMk/>
            <pc:sldMk cId="0" sldId="258"/>
            <ac:spMk id="19" creationId="{00000000-0000-0000-0000-000000000000}"/>
          </ac:spMkLst>
        </pc:spChg>
      </pc:sldChg>
      <pc:sldChg chg="del">
        <pc:chgData name="Agarwal, Jhanavi" userId="60879e5b-bb87-4909-9918-932f547c1437" providerId="ADAL" clId="{C6E9D5FC-149B-4956-83EE-45724230973E}" dt="2026-06-16T09:34:52.963" v="0" actId="47"/>
        <pc:sldMkLst>
          <pc:docMk/>
          <pc:sldMk cId="0" sldId="260"/>
        </pc:sldMkLst>
      </pc:sldChg>
      <pc:sldChg chg="addSp delSp mod">
        <pc:chgData name="Agarwal, Jhanavi" userId="60879e5b-bb87-4909-9918-932f547c1437" providerId="ADAL" clId="{C6E9D5FC-149B-4956-83EE-45724230973E}" dt="2026-06-17T06:07:20.991" v="278" actId="478"/>
        <pc:sldMkLst>
          <pc:docMk/>
          <pc:sldMk cId="0" sldId="261"/>
        </pc:sldMkLst>
        <pc:spChg chg="del">
          <ac:chgData name="Agarwal, Jhanavi" userId="60879e5b-bb87-4909-9918-932f547c1437" providerId="ADAL" clId="{C6E9D5FC-149B-4956-83EE-45724230973E}" dt="2026-06-17T06:07:02.992" v="270" actId="478"/>
          <ac:spMkLst>
            <pc:docMk/>
            <pc:sldMk cId="0" sldId="261"/>
            <ac:spMk id="10" creationId="{00000000-0000-0000-0000-000000000000}"/>
          </ac:spMkLst>
        </pc:spChg>
        <pc:spChg chg="del">
          <ac:chgData name="Agarwal, Jhanavi" userId="60879e5b-bb87-4909-9918-932f547c1437" providerId="ADAL" clId="{C6E9D5FC-149B-4956-83EE-45724230973E}" dt="2026-06-17T06:07:06.050" v="271" actId="478"/>
          <ac:spMkLst>
            <pc:docMk/>
            <pc:sldMk cId="0" sldId="261"/>
            <ac:spMk id="19" creationId="{00000000-0000-0000-0000-000000000000}"/>
          </ac:spMkLst>
        </pc:spChg>
        <pc:spChg chg="del">
          <ac:chgData name="Agarwal, Jhanavi" userId="60879e5b-bb87-4909-9918-932f547c1437" providerId="ADAL" clId="{C6E9D5FC-149B-4956-83EE-45724230973E}" dt="2026-06-17T06:07:11.227" v="274" actId="478"/>
          <ac:spMkLst>
            <pc:docMk/>
            <pc:sldMk cId="0" sldId="261"/>
            <ac:spMk id="28" creationId="{00000000-0000-0000-0000-000000000000}"/>
          </ac:spMkLst>
        </pc:spChg>
        <pc:spChg chg="del">
          <ac:chgData name="Agarwal, Jhanavi" userId="60879e5b-bb87-4909-9918-932f547c1437" providerId="ADAL" clId="{C6E9D5FC-149B-4956-83EE-45724230973E}" dt="2026-06-17T06:07:15.704" v="275" actId="478"/>
          <ac:spMkLst>
            <pc:docMk/>
            <pc:sldMk cId="0" sldId="261"/>
            <ac:spMk id="37" creationId="{00000000-0000-0000-0000-000000000000}"/>
          </ac:spMkLst>
        </pc:spChg>
        <pc:spChg chg="add del">
          <ac:chgData name="Agarwal, Jhanavi" userId="60879e5b-bb87-4909-9918-932f547c1437" providerId="ADAL" clId="{C6E9D5FC-149B-4956-83EE-45724230973E}" dt="2026-06-17T06:07:18.786" v="277" actId="478"/>
          <ac:spMkLst>
            <pc:docMk/>
            <pc:sldMk cId="0" sldId="261"/>
            <ac:spMk id="44" creationId="{00000000-0000-0000-0000-000000000000}"/>
          </ac:spMkLst>
        </pc:spChg>
        <pc:spChg chg="del">
          <ac:chgData name="Agarwal, Jhanavi" userId="60879e5b-bb87-4909-9918-932f547c1437" providerId="ADAL" clId="{C6E9D5FC-149B-4956-83EE-45724230973E}" dt="2026-06-17T06:07:20.991" v="278" actId="478"/>
          <ac:spMkLst>
            <pc:docMk/>
            <pc:sldMk cId="0" sldId="261"/>
            <ac:spMk id="46" creationId="{00000000-0000-0000-0000-000000000000}"/>
          </ac:spMkLst>
        </pc:spChg>
        <pc:picChg chg="add del">
          <ac:chgData name="Agarwal, Jhanavi" userId="60879e5b-bb87-4909-9918-932f547c1437" providerId="ADAL" clId="{C6E9D5FC-149B-4956-83EE-45724230973E}" dt="2026-06-17T06:07:08.755" v="273" actId="478"/>
          <ac:picMkLst>
            <pc:docMk/>
            <pc:sldMk cId="0" sldId="261"/>
            <ac:picMk id="29" creationId="{00000000-0000-0000-0000-000000000000}"/>
          </ac:picMkLst>
        </pc:picChg>
      </pc:sldChg>
      <pc:sldChg chg="del">
        <pc:chgData name="Agarwal, Jhanavi" userId="60879e5b-bb87-4909-9918-932f547c1437" providerId="ADAL" clId="{C6E9D5FC-149B-4956-83EE-45724230973E}" dt="2026-06-16T09:35:01.558" v="1" actId="47"/>
        <pc:sldMkLst>
          <pc:docMk/>
          <pc:sldMk cId="0" sldId="263"/>
        </pc:sldMkLst>
      </pc:sldChg>
      <pc:sldChg chg="del">
        <pc:chgData name="Agarwal, Jhanavi" userId="60879e5b-bb87-4909-9918-932f547c1437" providerId="ADAL" clId="{C6E9D5FC-149B-4956-83EE-45724230973E}" dt="2026-06-16T09:35:20.134" v="2" actId="47"/>
        <pc:sldMkLst>
          <pc:docMk/>
          <pc:sldMk cId="0" sldId="264"/>
        </pc:sldMkLst>
      </pc:sldChg>
      <pc:sldChg chg="modSp mod">
        <pc:chgData name="Agarwal, Jhanavi" userId="60879e5b-bb87-4909-9918-932f547c1437" providerId="ADAL" clId="{C6E9D5FC-149B-4956-83EE-45724230973E}" dt="2026-06-17T06:20:56.353" v="289" actId="1076"/>
        <pc:sldMkLst>
          <pc:docMk/>
          <pc:sldMk cId="0" sldId="265"/>
        </pc:sldMkLst>
        <pc:spChg chg="mod">
          <ac:chgData name="Agarwal, Jhanavi" userId="60879e5b-bb87-4909-9918-932f547c1437" providerId="ADAL" clId="{C6E9D5FC-149B-4956-83EE-45724230973E}" dt="2026-06-17T06:20:56.353" v="289" actId="1076"/>
          <ac:spMkLst>
            <pc:docMk/>
            <pc:sldMk cId="0" sldId="265"/>
            <ac:spMk id="16" creationId="{00000000-0000-0000-0000-000000000000}"/>
          </ac:spMkLst>
        </pc:spChg>
        <pc:spChg chg="mod">
          <ac:chgData name="Agarwal, Jhanavi" userId="60879e5b-bb87-4909-9918-932f547c1437" providerId="ADAL" clId="{C6E9D5FC-149B-4956-83EE-45724230973E}" dt="2026-06-17T06:20:39.001" v="286" actId="1076"/>
          <ac:spMkLst>
            <pc:docMk/>
            <pc:sldMk cId="0" sldId="265"/>
            <ac:spMk id="19" creationId="{00000000-0000-0000-0000-000000000000}"/>
          </ac:spMkLst>
        </pc:spChg>
        <pc:spChg chg="mod">
          <ac:chgData name="Agarwal, Jhanavi" userId="60879e5b-bb87-4909-9918-932f547c1437" providerId="ADAL" clId="{C6E9D5FC-149B-4956-83EE-45724230973E}" dt="2026-06-17T06:20:30.919" v="285" actId="14100"/>
          <ac:spMkLst>
            <pc:docMk/>
            <pc:sldMk cId="0" sldId="265"/>
            <ac:spMk id="20" creationId="{00000000-0000-0000-0000-000000000000}"/>
          </ac:spMkLst>
        </pc:spChg>
        <pc:picChg chg="mod">
          <ac:chgData name="Agarwal, Jhanavi" userId="60879e5b-bb87-4909-9918-932f547c1437" providerId="ADAL" clId="{C6E9D5FC-149B-4956-83EE-45724230973E}" dt="2026-06-17T06:20:49.134" v="288" actId="14100"/>
          <ac:picMkLst>
            <pc:docMk/>
            <pc:sldMk cId="0" sldId="265"/>
            <ac:picMk id="17" creationId="{00000000-0000-0000-0000-000000000000}"/>
          </ac:picMkLst>
        </pc:picChg>
      </pc:sldChg>
      <pc:sldChg chg="delSp mod">
        <pc:chgData name="Agarwal, Jhanavi" userId="60879e5b-bb87-4909-9918-932f547c1437" providerId="ADAL" clId="{C6E9D5FC-149B-4956-83EE-45724230973E}" dt="2026-06-17T06:20:19.256" v="284" actId="478"/>
        <pc:sldMkLst>
          <pc:docMk/>
          <pc:sldMk cId="0" sldId="266"/>
        </pc:sldMkLst>
        <pc:spChg chg="del">
          <ac:chgData name="Agarwal, Jhanavi" userId="60879e5b-bb87-4909-9918-932f547c1437" providerId="ADAL" clId="{C6E9D5FC-149B-4956-83EE-45724230973E}" dt="2026-06-17T06:20:08.141" v="281" actId="478"/>
          <ac:spMkLst>
            <pc:docMk/>
            <pc:sldMk cId="0" sldId="266"/>
            <ac:spMk id="35" creationId="{00000000-0000-0000-0000-000000000000}"/>
          </ac:spMkLst>
        </pc:spChg>
        <pc:spChg chg="del">
          <ac:chgData name="Agarwal, Jhanavi" userId="60879e5b-bb87-4909-9918-932f547c1437" providerId="ADAL" clId="{C6E9D5FC-149B-4956-83EE-45724230973E}" dt="2026-06-17T06:20:12.417" v="282" actId="478"/>
          <ac:spMkLst>
            <pc:docMk/>
            <pc:sldMk cId="0" sldId="266"/>
            <ac:spMk id="40" creationId="{00000000-0000-0000-0000-000000000000}"/>
          </ac:spMkLst>
        </pc:spChg>
        <pc:spChg chg="del">
          <ac:chgData name="Agarwal, Jhanavi" userId="60879e5b-bb87-4909-9918-932f547c1437" providerId="ADAL" clId="{C6E9D5FC-149B-4956-83EE-45724230973E}" dt="2026-06-17T06:20:16.219" v="283" actId="478"/>
          <ac:spMkLst>
            <pc:docMk/>
            <pc:sldMk cId="0" sldId="266"/>
            <ac:spMk id="45" creationId="{00000000-0000-0000-0000-000000000000}"/>
          </ac:spMkLst>
        </pc:spChg>
        <pc:spChg chg="del">
          <ac:chgData name="Agarwal, Jhanavi" userId="60879e5b-bb87-4909-9918-932f547c1437" providerId="ADAL" clId="{C6E9D5FC-149B-4956-83EE-45724230973E}" dt="2026-06-17T06:20:19.256" v="284" actId="478"/>
          <ac:spMkLst>
            <pc:docMk/>
            <pc:sldMk cId="0" sldId="266"/>
            <ac:spMk id="50" creationId="{00000000-0000-0000-0000-000000000000}"/>
          </ac:spMkLst>
        </pc:spChg>
      </pc:sldChg>
      <pc:sldChg chg="new del">
        <pc:chgData name="Agarwal, Jhanavi" userId="60879e5b-bb87-4909-9918-932f547c1437" providerId="ADAL" clId="{C6E9D5FC-149B-4956-83EE-45724230973E}" dt="2026-06-17T05:17:16.116" v="15" actId="47"/>
        <pc:sldMkLst>
          <pc:docMk/>
          <pc:sldMk cId="2150856566" sldId="268"/>
        </pc:sldMkLst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Confidence</c:v>
                </c:pt>
              </c:strCache>
            </c:strRef>
          </c:tx>
          <c:spPr>
            <a:solidFill>
              <a:srgbClr val="003865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7D65-4CC1-83FA-3C879D8510DD}"/>
              </c:ext>
            </c:extLst>
          </c:dPt>
          <c:dPt>
            <c:idx val="1"/>
            <c:invertIfNegative val="0"/>
            <c:bubble3D val="0"/>
            <c:spPr>
              <a:solidFill>
                <a:srgbClr val="83005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7D65-4CC1-83FA-3C879D8510DD}"/>
              </c:ext>
            </c:extLst>
          </c:dPt>
          <c:dPt>
            <c:idx val="2"/>
            <c:invertIfNegative val="0"/>
            <c:bubble3D val="0"/>
            <c:spPr>
              <a:solidFill>
                <a:srgbClr val="F0AB0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7D65-4CC1-83FA-3C879D8510DD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1" i="0" u="none" strike="noStrike">
                    <a:solidFill>
                      <a:srgbClr val="2B2B2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Tier 0
form-scoped</c:v>
                </c:pt>
                <c:pt idx="1">
                  <c:v>Tier 1
NOT SUBMITTED</c:v>
                </c:pt>
                <c:pt idx="2">
                  <c:v>Tier 2
cross-module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98</c:v>
                </c:pt>
                <c:pt idx="1">
                  <c:v>99</c:v>
                </c:pt>
                <c:pt idx="2">
                  <c:v>90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7D65-4CC1-83FA-3C879D8510D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5558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70"/>
        </c:scaling>
        <c:delete val="0"/>
        <c:axPos val="l"/>
        <c:majorGridlines>
          <c:spPr>
            <a:ln w="6350" cap="flat">
              <a:solidFill>
                <a:srgbClr val="ECE8EC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DB0A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509406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Title. Intern project presented to R&amp;I SP leadership. Frame humbly: this produces a reviewable FIRST DRAFT of the annotated CRF, not a validated final aCRF. Aim ~7 minutes total. Keep the best reference aCRF open alongside for show-and-tell.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problem in three numbers. ~500 pages of blank CRF, manually annotated against AZ standard documents — repetitive work. Multiple sources cross-checked to produce the first draft. Significant rework follows. A tool that produces a reliable first draft reduces rework and shortens turnaround. Land on the opportunity bar: programmers review and finalise instead of building from scratch.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objectives. (1) Automate annotated CRF production — weeks to hours at standard-acceptable accuracy. (2) Standards-based SDTM mapping grounded in three AZ sources: the RAW-to-SDTM specification template, corporate SDTM standards, and SDTM controlled terminology. (3) A technical and practical solution: integrated, modular, with a roadmap. Emphasise it is built to fit programmer workflows.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four quickly. (1) Rave export direct lookup — spec is on non-unique pages, annotation on unique pages; structural mismatch, needs manual reconciliation. (2) Direct LLM prompting (Qwen 0.6B) — hallucinated non-existent variables like DM.DOB instead of DM.BRTHDTC, non-reproducible, no traceability; unacceptable for submission. (3) Vector similarity (BGE-small-en + FAISS) — no hallucinations but no form context, can't separate VS/LB/EG 'Result'. (4) Specification-driven resolution — chosen; form-aware, traceable, deterministic. Next slide drills into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End-to-end pipeline, five modules. Input layer takes the blank CRF PDF plus AZ spec, standards and controlled terminology. Cache &amp; index builder parses Excel specs into JSON knowledge bases with registries and lookup tables. PDF parsing engine (PyMuPDF) extracts structure, labels, positions and codelists, stripping instructional/helper text via regex. Resolution engine runs the tiered cascade with confidence scoring and escalation. PDF annotation writer (PyMuPDF) produces the annotated CRF with colour-coded boxes, dataset headers, codelist codes, overlap avoidance and bookmarks.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engine. Fields flow left to right and escalate only if unresolved. Tier 0 — form-scoped match: read the form code from the header, scope to that form, match the label; confidence 0.98 because it's exact and context-verified, covering ~85%. Tier 1 — NOT SUBMITTED: system/helper fields such as 'Field created for RSG to calculate height' are correctly excluded rather than force-mapped; confidence 0.99. Tier 2 — cross-module fuzzy match: searches all modules for the in-form leftovers, accepts only above threshold, otherwise leaves it unannotated so the programmer knows exactly what to check; 0.85–0.95. Net automation ~90%, ~10% to manual review — as the metric cards in the diagram show.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Output quality. The chart shows confidence by resolving tier: Tier 0 form-scoped 0.98, Tier 1 NOT SUBMITTED 0.99, Tier 2 cross-module averaging ~0.90 (it varies 0.85–0.95 by label similarity and is only accepted above threshold). Visual output: colour-coded boxes by domain class, dataset headers per page, codelist codes in parentheses, navigation bookmarks — acceptable first-draft quality. Metrics defined plainly: resolution rate = annotated ÷ total data-carrying fields; confidence = the resolving tier's score averaged; form coverage = fully-resolved forms ÷ total forms.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Where it stands. Left: the strongest domains — AE, VS, PR, LB, CM, EG, MH, DM, IE, SV — all at 98% confidence, which covers the bulk of standard forms. Right, the honest refinement areas, all needing study- or protocol-level context: gating Yes/No questions occasionally map to the topic variable instead of NOT SUBMITTED; SUPP-- qualifiers need more spec detail (e.g. 'Reason not performed', processing date/times); duplicate assignments where one label serves two purposes, fixable with field-type awareness; and multi-domain forms (EXACATE, INFSS, LIVERSS) where CE/FA/MH can't be separated without protocol context. These are exactly what the next phase targets.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Where it goes next, and the close. The LLM becomes a supplementary tier only for the ~10% the engine can't resolve — complex multi-domain forms like EXACATE/INFSS needing protocol context. The resolution core is unchanged; the LLM only handles what spec matching cannot. Planned use cases: domain disambiguation ('Shortness of Breath' → CE or FA?), MedDRA dictionary resolution by contextual inference, and LLM as a second opinion on low-confidence Tier 2 matches. Broader roadmap: multi-study pattern learning, direct EDC export integration, and the architecture is ready to plug into an AZ-approved LLM endpoint when access lands. Projected resolution 97–99%. Close humbly: this is a first-draft engine with a human in the loop. Thank you — invite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1.xml"/><Relationship Id="rId4" Type="http://schemas.openxmlformats.org/officeDocument/2006/relationships/image" Target="../media/image17.png"/><Relationship Id="rId5" Type="http://schemas.openxmlformats.org/officeDocument/2006/relationships/image" Target="../media/image1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8300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080000">
            <a:off x="7818120" y="-1463040"/>
            <a:ext cx="6400800" cy="6400800"/>
          </a:xfrm>
          <a:prstGeom prst="roundRect">
            <a:avLst>
              <a:gd name="adj" fmla="val 12857"/>
            </a:avLst>
          </a:prstGeom>
          <a:solidFill>
            <a:srgbClr val="4D003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 rot="1080000">
            <a:off x="9144000" y="2468880"/>
            <a:ext cx="4937760" cy="5669280"/>
          </a:xfrm>
          <a:prstGeom prst="roundRect">
            <a:avLst>
              <a:gd name="adj" fmla="val 14815"/>
            </a:avLst>
          </a:prstGeom>
          <a:solidFill>
            <a:srgbClr val="D0006F">
              <a:alpha val="88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1183175" y="559982"/>
            <a:ext cx="547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21792" y="478111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400" dirty="0">
                <a:solidFill>
                  <a:srgbClr val="68D2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R&amp;I  ·  STATISTICAL PROGRAMMING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21792" y="798151"/>
            <a:ext cx="8412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Automated aCRF</a:t>
            </a:r>
            <a:endParaRPr lang="en-US" sz="5200" dirty="0"/>
          </a:p>
          <a:p>
            <a:pPr marL="0" indent="0" algn="l">
              <a:lnSpc>
                <a:spcPct val="98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Annotation Engine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621792" y="2718391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600" dirty="0">
                <a:solidFill>
                  <a:srgbClr val="EAD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Automating aCRF annotations and bookmarks — turning a multi-week manual task into a reviewable first draft in minutes.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783746" y="6190488"/>
            <a:ext cx="165689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68D2D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2783746" y="6190488"/>
            <a:ext cx="165689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of concept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641807" y="6190488"/>
            <a:ext cx="23298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68D2D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4641807" y="6190488"/>
            <a:ext cx="232989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 review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172866" y="6190488"/>
            <a:ext cx="2918765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68D2D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7172866" y="6190488"/>
            <a:ext cx="291876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to CDISC aCRF conventions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0180015" y="64008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9A9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17-06-26</a:t>
            </a:r>
            <a:endParaRPr lang="en-US" sz="1100" dirty="0"/>
          </a:p>
        </p:txBody>
      </p:sp>
      <p:sp>
        <p:nvSpPr>
          <p:cNvPr id="15" name="Text 5">
            <a:extLst>
              <a:ext uri="{FF2B5EF4-FFF2-40B4-BE49-F238E27FC236}">
                <a16:creationId xmlns:a16="http://schemas.microsoft.com/office/drawing/2014/main" id="{664F7286-D119-5920-6346-F912E1F3A312}"/>
              </a:ext>
            </a:extLst>
          </p:cNvPr>
          <p:cNvSpPr/>
          <p:nvPr/>
        </p:nvSpPr>
        <p:spPr>
          <a:xfrm>
            <a:off x="548640" y="3993754"/>
            <a:ext cx="6949440" cy="14146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600" b="1" dirty="0">
                <a:solidFill>
                  <a:schemeClr val="bg1"/>
                </a:solidFill>
                <a:latin typeface="Century Schoolbook" panose="02040604050505020304" pitchFamily="18" charset="0"/>
              </a:rPr>
              <a:t>By- </a:t>
            </a:r>
          </a:p>
          <a:p>
            <a:pPr marL="0" indent="0" algn="l">
              <a:lnSpc>
                <a:spcPct val="105000"/>
              </a:lnSpc>
              <a:buNone/>
            </a:pPr>
            <a:r>
              <a:rPr lang="en-US" sz="1600" b="1" dirty="0">
                <a:solidFill>
                  <a:schemeClr val="bg1"/>
                </a:solidFill>
                <a:latin typeface="Century Schoolbook" panose="02040604050505020304" pitchFamily="18" charset="0"/>
              </a:rPr>
              <a:t>Jhanavi Agarwal</a:t>
            </a:r>
          </a:p>
          <a:p>
            <a:pPr marL="0" indent="0" algn="l">
              <a:lnSpc>
                <a:spcPct val="105000"/>
              </a:lnSpc>
              <a:buNone/>
            </a:pPr>
            <a:r>
              <a:rPr lang="en-US" sz="1600" b="1" dirty="0">
                <a:solidFill>
                  <a:schemeClr val="bg1"/>
                </a:solidFill>
                <a:latin typeface="Century Schoolbook" panose="02040604050505020304" pitchFamily="18" charset="0"/>
              </a:rPr>
              <a:t>Statistical Programming Intern</a:t>
            </a:r>
          </a:p>
          <a:p>
            <a:pPr>
              <a:lnSpc>
                <a:spcPct val="105000"/>
              </a:lnSpc>
            </a:pPr>
            <a:r>
              <a:rPr lang="en-US" sz="1600" b="1" dirty="0">
                <a:solidFill>
                  <a:schemeClr val="bg1"/>
                </a:solidFill>
                <a:latin typeface="Century Schoolbook" panose="02040604050505020304" pitchFamily="18" charset="0"/>
              </a:rPr>
              <a:t>B. Tech in Computer Science Engineering (Artificial Intelligence)</a:t>
            </a:r>
          </a:p>
          <a:p>
            <a:pPr marL="0" indent="0" algn="l">
              <a:lnSpc>
                <a:spcPct val="105000"/>
              </a:lnSpc>
              <a:buNone/>
            </a:pPr>
            <a:endParaRPr lang="en-US" sz="1600" b="1" dirty="0">
              <a:solidFill>
                <a:schemeClr val="bg1"/>
              </a:solidFill>
              <a:latin typeface="Century Schoolbook" panose="02040604050505020304" pitchFamily="18" charset="0"/>
            </a:endParaRPr>
          </a:p>
          <a:p>
            <a:pPr marL="0" indent="0" algn="l">
              <a:lnSpc>
                <a:spcPct val="105000"/>
              </a:lnSpc>
              <a:buNone/>
            </a:pPr>
            <a:endParaRPr lang="en-US" sz="1600" dirty="0">
              <a:latin typeface="Century Schoolbook" panose="02040604050505020304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D00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CHALLENGE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83005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The manual aCRF annotation bottleneck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259007" y="420624"/>
            <a:ext cx="384048" cy="384048"/>
          </a:xfrm>
          <a:prstGeom prst="ellipse">
            <a:avLst/>
          </a:prstGeom>
          <a:solidFill>
            <a:srgbClr val="83005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11259007" y="4206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B6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aCRF Annotation Engine</a:t>
            </a:r>
            <a:r>
              <a:rPr lang="en-US" sz="900" dirty="0">
                <a:solidFill>
                  <a:srgbClr val="9DB0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AstraZeneca  ·  R&amp;I Statistical Programming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27632"/>
            <a:ext cx="3419856" cy="2743200"/>
          </a:xfrm>
          <a:prstGeom prst="roundRect">
            <a:avLst>
              <a:gd name="adj" fmla="val 4000"/>
            </a:avLst>
          </a:prstGeom>
          <a:solidFill>
            <a:srgbClr val="F6EEF4"/>
          </a:solidFill>
          <a:ln/>
          <a:effectLst>
            <a:outerShdw blurRad="76200" dist="25400" dir="5400000" algn="bl" rotWithShape="0">
              <a:srgbClr val="888888">
                <a:alpha val="16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841248" y="1920240"/>
            <a:ext cx="713232" cy="713232"/>
          </a:xfrm>
          <a:prstGeom prst="ellipse">
            <a:avLst/>
          </a:prstGeom>
          <a:solidFill>
            <a:srgbClr val="830051"/>
          </a:solidFill>
          <a:ln/>
          <a:effectLst>
            <a:outerShdw blurRad="76200" dist="25400" dir="5400000" algn="bl" rotWithShape="0">
              <a:srgbClr val="888888">
                <a:alpha val="16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9" name="Image 0" descr="/tmp/build/icons/fil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6688" y="2105680"/>
            <a:ext cx="342351" cy="342351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682496" y="1901952"/>
            <a:ext cx="21396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83005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~500</a:t>
            </a:r>
            <a:r>
              <a:rPr lang="en-US" sz="1500" b="1" dirty="0">
                <a:solidFill>
                  <a:srgbClr val="6B6F72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  pages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841248" y="2798064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blank CRF annotated by hand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841248" y="3291840"/>
            <a:ext cx="2834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6B6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page mapped manually against AZ standard documents and processes — a highly repetitive task.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97680" y="1627632"/>
            <a:ext cx="3419856" cy="2743200"/>
          </a:xfrm>
          <a:prstGeom prst="roundRect">
            <a:avLst>
              <a:gd name="adj" fmla="val 4000"/>
            </a:avLst>
          </a:prstGeom>
          <a:solidFill>
            <a:srgbClr val="EEF3F6"/>
          </a:solidFill>
          <a:ln/>
          <a:effectLst>
            <a:outerShdw blurRad="76200" dist="25400" dir="5400000" algn="bl" rotWithShape="0">
              <a:srgbClr val="888888">
                <a:alpha val="16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4" name="Shape 11"/>
          <p:cNvSpPr/>
          <p:nvPr/>
        </p:nvSpPr>
        <p:spPr>
          <a:xfrm>
            <a:off x="4590288" y="1920240"/>
            <a:ext cx="713232" cy="713232"/>
          </a:xfrm>
          <a:prstGeom prst="ellipse">
            <a:avLst/>
          </a:prstGeom>
          <a:solidFill>
            <a:srgbClr val="003865"/>
          </a:solidFill>
          <a:ln/>
          <a:effectLst>
            <a:outerShdw blurRad="76200" dist="25400" dir="5400000" algn="bl" rotWithShape="0">
              <a:srgbClr val="888888">
                <a:alpha val="16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15" name="Image 1" descr="/tmp/build/icons/sourc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75728" y="2105680"/>
            <a:ext cx="342351" cy="342351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5431536" y="1901952"/>
            <a:ext cx="21396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003865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Multiple</a:t>
            </a:r>
            <a:r>
              <a:rPr lang="en-US" sz="1500" b="1" dirty="0">
                <a:solidFill>
                  <a:srgbClr val="6B6F72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  sources</a:t>
            </a:r>
            <a:endParaRPr lang="en-US" sz="3400" dirty="0"/>
          </a:p>
        </p:txBody>
      </p:sp>
      <p:sp>
        <p:nvSpPr>
          <p:cNvPr id="17" name="Text 13"/>
          <p:cNvSpPr/>
          <p:nvPr/>
        </p:nvSpPr>
        <p:spPr>
          <a:xfrm>
            <a:off x="4590288" y="2798064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referenced &amp; cross-checked</a:t>
            </a:r>
            <a:endParaRPr lang="en-US" sz="1450" dirty="0"/>
          </a:p>
        </p:txBody>
      </p:sp>
      <p:sp>
        <p:nvSpPr>
          <p:cNvPr id="18" name="Text 14"/>
          <p:cNvSpPr/>
          <p:nvPr/>
        </p:nvSpPr>
        <p:spPr>
          <a:xfrm>
            <a:off x="4590288" y="3291840"/>
            <a:ext cx="2834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6B6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Specifications, corporate SDTM standards and controlled terminology all consulted to build the first draft.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8046720" y="1627632"/>
            <a:ext cx="3419856" cy="2743200"/>
          </a:xfrm>
          <a:prstGeom prst="roundRect">
            <a:avLst>
              <a:gd name="adj" fmla="val 4000"/>
            </a:avLst>
          </a:prstGeom>
          <a:solidFill>
            <a:srgbClr val="FBF3DD"/>
          </a:solidFill>
          <a:ln/>
          <a:effectLst>
            <a:outerShdw blurRad="76200" dist="25400" dir="5400000" algn="bl" rotWithShape="0">
              <a:srgbClr val="888888">
                <a:alpha val="16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0" name="Shape 16"/>
          <p:cNvSpPr/>
          <p:nvPr/>
        </p:nvSpPr>
        <p:spPr>
          <a:xfrm>
            <a:off x="8339328" y="1920240"/>
            <a:ext cx="713232" cy="713232"/>
          </a:xfrm>
          <a:prstGeom prst="ellipse">
            <a:avLst/>
          </a:prstGeom>
          <a:solidFill>
            <a:srgbClr val="F0AB00"/>
          </a:solidFill>
          <a:ln/>
          <a:effectLst>
            <a:outerShdw blurRad="76200" dist="25400" dir="5400000" algn="bl" rotWithShape="0">
              <a:srgbClr val="888888">
                <a:alpha val="16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1" name="Image 2" descr="/tmp/build/icons/hourglas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24768" y="2105680"/>
            <a:ext cx="342351" cy="342351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9180576" y="1901952"/>
            <a:ext cx="21396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B5820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Weeks</a:t>
            </a:r>
            <a:r>
              <a:rPr lang="en-US" sz="1500" b="1" dirty="0">
                <a:solidFill>
                  <a:srgbClr val="6B6F72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  turnaround</a:t>
            </a:r>
            <a:endParaRPr lang="en-US" sz="3400" dirty="0"/>
          </a:p>
        </p:txBody>
      </p:sp>
      <p:sp>
        <p:nvSpPr>
          <p:cNvPr id="23" name="Text 18"/>
          <p:cNvSpPr/>
          <p:nvPr/>
        </p:nvSpPr>
        <p:spPr>
          <a:xfrm>
            <a:off x="8339328" y="2798064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rework on the first draft</a:t>
            </a:r>
            <a:endParaRPr lang="en-US" sz="1450" dirty="0"/>
          </a:p>
        </p:txBody>
      </p:sp>
      <p:sp>
        <p:nvSpPr>
          <p:cNvPr id="24" name="Text 19"/>
          <p:cNvSpPr/>
          <p:nvPr/>
        </p:nvSpPr>
        <p:spPr>
          <a:xfrm>
            <a:off x="8339328" y="3291840"/>
            <a:ext cx="2834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6B6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Significant rework is needed — a reliable first draft cuts this and shortens overall turnaround.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>
            <a:off x="548640" y="4681728"/>
            <a:ext cx="11094415" cy="1325880"/>
          </a:xfrm>
          <a:prstGeom prst="roundRect">
            <a:avLst>
              <a:gd name="adj" fmla="val 8276"/>
            </a:avLst>
          </a:prstGeom>
          <a:solidFill>
            <a:srgbClr val="830051"/>
          </a:solidFill>
          <a:ln/>
          <a:effectLst>
            <a:outerShdw blurRad="88900" dist="38100" dir="5400000" algn="bl" rotWithShape="0">
              <a:srgbClr val="9A8895">
                <a:alpha val="2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6" name="Shape 21"/>
          <p:cNvSpPr/>
          <p:nvPr/>
        </p:nvSpPr>
        <p:spPr>
          <a:xfrm>
            <a:off x="914400" y="5065776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27" name="Image 3" descr="/tmp/build/icons/che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1801" y="5213177"/>
            <a:ext cx="272125" cy="272125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1645920" y="4882896"/>
            <a:ext cx="97228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The opportunity   </a:t>
            </a:r>
            <a:r>
              <a:rPr lang="en-US" sz="1500" b="1" dirty="0">
                <a:solidFill>
                  <a:srgbClr val="68D2DF"/>
                </a:solidFill>
              </a:rPr>
              <a:t>Generate a reliable first-draft annotated CRF automatically</a:t>
            </a:r>
            <a:endParaRPr lang="en-US" sz="1700" dirty="0"/>
          </a:p>
        </p:txBody>
      </p:sp>
      <p:sp>
        <p:nvSpPr>
          <p:cNvPr id="29" name="Text 23"/>
          <p:cNvSpPr/>
          <p:nvPr/>
        </p:nvSpPr>
        <p:spPr>
          <a:xfrm>
            <a:off x="1645920" y="5340096"/>
            <a:ext cx="97228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3000"/>
              </a:lnSpc>
              <a:buNone/>
            </a:pPr>
            <a:r>
              <a:rPr lang="en-US" sz="1250" dirty="0">
                <a:solidFill>
                  <a:srgbClr val="EAD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the repetitive manual effort and shorten turnaround, leaving programmers to review and finalise rather than build from scratch.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D00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SET OUT TO BUILD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83005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Objective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259007" y="420624"/>
            <a:ext cx="384048" cy="384048"/>
          </a:xfrm>
          <a:prstGeom prst="ellipse">
            <a:avLst/>
          </a:prstGeom>
          <a:solidFill>
            <a:srgbClr val="83005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11259007" y="4206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B6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aCRF Annotation Engine</a:t>
            </a:r>
            <a:r>
              <a:rPr lang="en-US" sz="900" dirty="0">
                <a:solidFill>
                  <a:srgbClr val="9DB0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AstraZeneca  ·  R&amp;I Statistical Programming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755648"/>
            <a:ext cx="3419856" cy="3977640"/>
          </a:xfrm>
          <a:prstGeom prst="roundRect">
            <a:avLst>
              <a:gd name="adj" fmla="val 3209"/>
            </a:avLst>
          </a:prstGeom>
          <a:solidFill>
            <a:srgbClr val="FFFFFF"/>
          </a:solidFill>
          <a:ln w="12700">
            <a:solidFill>
              <a:srgbClr val="E4E1E5"/>
            </a:solidFill>
            <a:prstDash val="solid"/>
          </a:ln>
          <a:effectLst>
            <a:outerShdw blurRad="76200" dist="25400" dir="5400000" algn="bl" rotWithShape="0">
              <a:srgbClr val="888888">
                <a:alpha val="16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2596896" y="1865376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F6EEF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01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859536" y="2066544"/>
            <a:ext cx="822960" cy="822960"/>
          </a:xfrm>
          <a:prstGeom prst="ellipse">
            <a:avLst/>
          </a:prstGeom>
          <a:solidFill>
            <a:srgbClr val="830051"/>
          </a:solidFill>
          <a:ln/>
          <a:effectLst>
            <a:outerShdw blurRad="76200" dist="25400" dir="5400000" algn="bl" rotWithShape="0">
              <a:srgbClr val="888888">
                <a:alpha val="16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10" name="Image 0" descr="/tmp/build/icons/bolt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3506" y="2280514"/>
            <a:ext cx="395021" cy="395021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859536" y="3054096"/>
            <a:ext cx="27980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1700" b="1" dirty="0">
                <a:solidFill>
                  <a:srgbClr val="83005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Automation of annotated CRFs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859536" y="3749040"/>
            <a:ext cx="27980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 automates production of annotated Case Report Forms, reducing turnaround from weeks to hours at standard-acceptable accuracy.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297680" y="1755648"/>
            <a:ext cx="3419856" cy="3977640"/>
          </a:xfrm>
          <a:prstGeom prst="roundRect">
            <a:avLst>
              <a:gd name="adj" fmla="val 3209"/>
            </a:avLst>
          </a:prstGeom>
          <a:solidFill>
            <a:srgbClr val="FFFFFF"/>
          </a:solidFill>
          <a:ln w="12700">
            <a:solidFill>
              <a:srgbClr val="E4E1E5"/>
            </a:solidFill>
            <a:prstDash val="solid"/>
          </a:ln>
          <a:effectLst>
            <a:outerShdw blurRad="76200" dist="25400" dir="5400000" algn="bl" rotWithShape="0">
              <a:srgbClr val="888888">
                <a:alpha val="16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4" name="Text 11"/>
          <p:cNvSpPr/>
          <p:nvPr/>
        </p:nvSpPr>
        <p:spPr>
          <a:xfrm>
            <a:off x="6345936" y="1865376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F6EEF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02</a:t>
            </a:r>
            <a:endParaRPr lang="en-US" sz="3000" dirty="0"/>
          </a:p>
        </p:txBody>
      </p:sp>
      <p:sp>
        <p:nvSpPr>
          <p:cNvPr id="15" name="Shape 12"/>
          <p:cNvSpPr/>
          <p:nvPr/>
        </p:nvSpPr>
        <p:spPr>
          <a:xfrm>
            <a:off x="4608576" y="2066544"/>
            <a:ext cx="822960" cy="822960"/>
          </a:xfrm>
          <a:prstGeom prst="ellipse">
            <a:avLst/>
          </a:prstGeom>
          <a:solidFill>
            <a:srgbClr val="830051"/>
          </a:solidFill>
          <a:ln/>
          <a:effectLst>
            <a:outerShdw blurRad="76200" dist="25400" dir="5400000" algn="bl" rotWithShape="0">
              <a:srgbClr val="888888">
                <a:alpha val="16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16" name="Image 1" descr="/tmp/build/icons/sitemap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2546" y="2280514"/>
            <a:ext cx="395021" cy="395021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4608576" y="3054096"/>
            <a:ext cx="27980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1700" b="1" dirty="0">
                <a:solidFill>
                  <a:srgbClr val="83005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Standards-based SDTM mapping</a:t>
            </a:r>
            <a:endParaRPr lang="en-US" sz="1700" dirty="0"/>
          </a:p>
        </p:txBody>
      </p:sp>
      <p:sp>
        <p:nvSpPr>
          <p:cNvPr id="18" name="Text 14"/>
          <p:cNvSpPr/>
          <p:nvPr/>
        </p:nvSpPr>
        <p:spPr>
          <a:xfrm>
            <a:off x="4608576" y="3749040"/>
            <a:ext cx="27980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Intelligent SDTM mapping grounded in AZ corporate standards:</a:t>
            </a:r>
            <a:endParaRPr lang="en-US" sz="1300" dirty="0"/>
          </a:p>
        </p:txBody>
      </p:sp>
      <p:sp>
        <p:nvSpPr>
          <p:cNvPr id="19" name="Text 15"/>
          <p:cNvSpPr/>
          <p:nvPr/>
        </p:nvSpPr>
        <p:spPr>
          <a:xfrm>
            <a:off x="4423144" y="4380614"/>
            <a:ext cx="3038360" cy="1105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38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 RAW-to-SDTM Specification Template</a:t>
            </a:r>
            <a:endParaRPr lang="en-US" sz="1400" b="1" dirty="0"/>
          </a:p>
          <a:p>
            <a:pPr marL="342900" indent="-342900" algn="l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38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 Corporate SDTM Standards</a:t>
            </a:r>
            <a:endParaRPr lang="en-US" sz="1400" b="1" dirty="0"/>
          </a:p>
          <a:p>
            <a:pPr marL="342900" indent="-342900" algn="l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38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 SDTM Controlled Terminology</a:t>
            </a:r>
            <a:endParaRPr lang="en-US" sz="1400" b="1" dirty="0"/>
          </a:p>
        </p:txBody>
      </p:sp>
      <p:sp>
        <p:nvSpPr>
          <p:cNvPr id="20" name="Shape 16"/>
          <p:cNvSpPr/>
          <p:nvPr/>
        </p:nvSpPr>
        <p:spPr>
          <a:xfrm>
            <a:off x="8046720" y="1755648"/>
            <a:ext cx="3419856" cy="3977640"/>
          </a:xfrm>
          <a:prstGeom prst="roundRect">
            <a:avLst>
              <a:gd name="adj" fmla="val 3209"/>
            </a:avLst>
          </a:prstGeom>
          <a:solidFill>
            <a:srgbClr val="FFFFFF"/>
          </a:solidFill>
          <a:ln w="12700">
            <a:solidFill>
              <a:srgbClr val="E4E1E5"/>
            </a:solidFill>
            <a:prstDash val="solid"/>
          </a:ln>
          <a:effectLst>
            <a:outerShdw blurRad="76200" dist="25400" dir="5400000" algn="bl" rotWithShape="0">
              <a:srgbClr val="888888">
                <a:alpha val="16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1" name="Text 17"/>
          <p:cNvSpPr/>
          <p:nvPr/>
        </p:nvSpPr>
        <p:spPr>
          <a:xfrm>
            <a:off x="10094976" y="1865376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F6EEF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03</a:t>
            </a:r>
            <a:endParaRPr lang="en-US" sz="3000" dirty="0"/>
          </a:p>
        </p:txBody>
      </p:sp>
      <p:sp>
        <p:nvSpPr>
          <p:cNvPr id="22" name="Shape 18"/>
          <p:cNvSpPr/>
          <p:nvPr/>
        </p:nvSpPr>
        <p:spPr>
          <a:xfrm>
            <a:off x="8357616" y="2066544"/>
            <a:ext cx="822960" cy="822960"/>
          </a:xfrm>
          <a:prstGeom prst="ellipse">
            <a:avLst/>
          </a:prstGeom>
          <a:solidFill>
            <a:srgbClr val="830051"/>
          </a:solidFill>
          <a:ln/>
          <a:effectLst>
            <a:outerShdw blurRad="76200" dist="25400" dir="5400000" algn="bl" rotWithShape="0">
              <a:srgbClr val="888888">
                <a:alpha val="16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3" name="Image 2" descr="/tmp/build/icons/cubes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1586" y="2280514"/>
            <a:ext cx="395021" cy="395021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8357616" y="3054096"/>
            <a:ext cx="27980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1700" b="1" dirty="0">
                <a:solidFill>
                  <a:srgbClr val="83005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Technical &amp; practical solution</a:t>
            </a:r>
            <a:endParaRPr lang="en-US" sz="1700" dirty="0"/>
          </a:p>
        </p:txBody>
      </p:sp>
      <p:sp>
        <p:nvSpPr>
          <p:cNvPr id="25" name="Text 20"/>
          <p:cNvSpPr/>
          <p:nvPr/>
        </p:nvSpPr>
        <p:spPr>
          <a:xfrm>
            <a:off x="8357616" y="3749040"/>
            <a:ext cx="27980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integrated, modular architecture with a clear roadmap for future enhancements — designed to slot into existing programmer workflows.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D00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GOT TO THE DESIGN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83005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Four approaches evaluated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259007" y="420624"/>
            <a:ext cx="384048" cy="384048"/>
          </a:xfrm>
          <a:prstGeom prst="ellipse">
            <a:avLst/>
          </a:prstGeom>
          <a:solidFill>
            <a:srgbClr val="83005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11259007" y="4206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B6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aCRF Annotation Engine</a:t>
            </a:r>
            <a:r>
              <a:rPr lang="en-US" sz="900" dirty="0">
                <a:solidFill>
                  <a:srgbClr val="9DB0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AstraZeneca  ·  R&amp;I Statistical Programming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1481328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3000"/>
              </a:lnSpc>
              <a:buNone/>
            </a:pPr>
            <a:r>
              <a:rPr lang="en-US" sz="1350" dirty="0">
                <a:solidFill>
                  <a:srgbClr val="6B6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candidate was tested against the bar that matters for a regulatory submission: every annotation must trace back to a standard, and the same input must always produce the same output.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2139696"/>
            <a:ext cx="5394960" cy="1755648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2700">
            <a:solidFill>
              <a:srgbClr val="E4E1E5"/>
            </a:solidFill>
            <a:prstDash val="solid"/>
          </a:ln>
          <a:effectLst>
            <a:outerShdw blurRad="76200" dist="25400" dir="5400000" algn="bl" rotWithShape="0">
              <a:srgbClr val="888888">
                <a:alpha val="16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3936492" y="2359152"/>
            <a:ext cx="1787652" cy="329184"/>
          </a:xfrm>
          <a:prstGeom prst="roundRect">
            <a:avLst>
              <a:gd name="adj" fmla="val 50000"/>
            </a:avLst>
          </a:prstGeom>
          <a:solidFill>
            <a:srgbClr val="8C8C8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3936492" y="2359152"/>
            <a:ext cx="17876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mismatch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86384" y="2377440"/>
            <a:ext cx="603504" cy="603504"/>
          </a:xfrm>
          <a:prstGeom prst="ellipse">
            <a:avLst/>
          </a:prstGeom>
          <a:solidFill>
            <a:srgbClr val="003865"/>
          </a:solidFill>
          <a:ln/>
          <a:effectLst>
            <a:outerShdw blurRad="76200" dist="25400" dir="5400000" algn="bl" rotWithShape="0">
              <a:srgbClr val="888888">
                <a:alpha val="16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12" name="Image 0" descr="/tmp/build/icons/look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3295" y="2534351"/>
            <a:ext cx="289682" cy="289682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499616" y="2322576"/>
            <a:ext cx="23454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9DB0AC"/>
                </a:solidFill>
              </a:rPr>
              <a:t>01   </a:t>
            </a:r>
            <a:r>
              <a:rPr lang="en-US" sz="1500" b="1" dirty="0">
                <a:solidFill>
                  <a:srgbClr val="2B2B2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Rave export CRF mapping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499616" y="2706624"/>
            <a:ext cx="28940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i="1" dirty="0">
                <a:solidFill>
                  <a:srgbClr val="6B6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lookup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804672" y="3035808"/>
            <a:ext cx="48828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30" dirty="0">
                <a:solidFill>
                  <a:srgbClr val="5558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mappings (RAW → SDTM) transferred directly onto the blank CRF — but the spec is built on the non-unique-pages CRF while annotation is done on unique pages. Direct overlay isn't practical without manual reconciliation.</a:t>
            </a:r>
            <a:endParaRPr lang="en-US" sz="1130" dirty="0"/>
          </a:p>
        </p:txBody>
      </p:sp>
      <p:sp>
        <p:nvSpPr>
          <p:cNvPr id="16" name="Shape 13"/>
          <p:cNvSpPr/>
          <p:nvPr/>
        </p:nvSpPr>
        <p:spPr>
          <a:xfrm>
            <a:off x="6309360" y="2139696"/>
            <a:ext cx="5394960" cy="1755648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2700">
            <a:solidFill>
              <a:srgbClr val="E4E1E5"/>
            </a:solidFill>
            <a:prstDash val="solid"/>
          </a:ln>
          <a:effectLst>
            <a:outerShdw blurRad="76200" dist="25400" dir="5400000" algn="bl" rotWithShape="0">
              <a:srgbClr val="888888">
                <a:alpha val="16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7" name="Shape 14"/>
          <p:cNvSpPr/>
          <p:nvPr/>
        </p:nvSpPr>
        <p:spPr>
          <a:xfrm>
            <a:off x="10085832" y="2359152"/>
            <a:ext cx="1399032" cy="329184"/>
          </a:xfrm>
          <a:prstGeom prst="roundRect">
            <a:avLst>
              <a:gd name="adj" fmla="val 50000"/>
            </a:avLst>
          </a:prstGeom>
          <a:solidFill>
            <a:srgbClr val="8C8C8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Text 15"/>
          <p:cNvSpPr/>
          <p:nvPr/>
        </p:nvSpPr>
        <p:spPr>
          <a:xfrm>
            <a:off x="10085832" y="2359152"/>
            <a:ext cx="1399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Hallucinations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6547104" y="2377440"/>
            <a:ext cx="603504" cy="603504"/>
          </a:xfrm>
          <a:prstGeom prst="ellipse">
            <a:avLst/>
          </a:prstGeom>
          <a:solidFill>
            <a:srgbClr val="003865"/>
          </a:solidFill>
          <a:ln/>
          <a:effectLst>
            <a:outerShdw blurRad="76200" dist="25400" dir="5400000" algn="bl" rotWithShape="0">
              <a:srgbClr val="888888">
                <a:alpha val="16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0" name="Image 1" descr="/tmp/build/icons/rob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4015" y="2534351"/>
            <a:ext cx="289682" cy="289682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7260336" y="2322576"/>
            <a:ext cx="2734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9DB0AC"/>
                </a:solidFill>
              </a:rPr>
              <a:t>02   </a:t>
            </a:r>
            <a:r>
              <a:rPr lang="en-US" sz="1500" b="1" dirty="0">
                <a:solidFill>
                  <a:srgbClr val="2B2B2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Direct prompting with LLMs</a:t>
            </a:r>
            <a:endParaRPr lang="en-US" sz="1300" dirty="0"/>
          </a:p>
        </p:txBody>
      </p:sp>
      <p:sp>
        <p:nvSpPr>
          <p:cNvPr id="22" name="Text 18"/>
          <p:cNvSpPr/>
          <p:nvPr/>
        </p:nvSpPr>
        <p:spPr>
          <a:xfrm>
            <a:off x="7260336" y="2706624"/>
            <a:ext cx="3282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i="1" dirty="0">
                <a:solidFill>
                  <a:srgbClr val="6B6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 0.6B</a:t>
            </a:r>
            <a:endParaRPr lang="en-US" sz="1150" dirty="0"/>
          </a:p>
        </p:txBody>
      </p:sp>
      <p:sp>
        <p:nvSpPr>
          <p:cNvPr id="23" name="Text 19"/>
          <p:cNvSpPr/>
          <p:nvPr/>
        </p:nvSpPr>
        <p:spPr>
          <a:xfrm>
            <a:off x="6565392" y="3035808"/>
            <a:ext cx="48828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30" dirty="0">
                <a:solidFill>
                  <a:srgbClr val="5558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 CRF labels to an LLM for the SDTM variable: low accuracy. Invented plausible variables that don't exist (DM.DOB instead of DM.BRTHDTC), differed run-to-run, with no traceability. Not viable for submission.</a:t>
            </a:r>
            <a:endParaRPr lang="en-US" sz="1130" dirty="0"/>
          </a:p>
        </p:txBody>
      </p:sp>
      <p:sp>
        <p:nvSpPr>
          <p:cNvPr id="24" name="Shape 20"/>
          <p:cNvSpPr/>
          <p:nvPr/>
        </p:nvSpPr>
        <p:spPr>
          <a:xfrm>
            <a:off x="548640" y="4187952"/>
            <a:ext cx="5394960" cy="1755648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2700">
            <a:solidFill>
              <a:srgbClr val="E4E1E5"/>
            </a:solidFill>
            <a:prstDash val="solid"/>
          </a:ln>
          <a:effectLst>
            <a:outerShdw blurRad="76200" dist="25400" dir="5400000" algn="bl" rotWithShape="0">
              <a:srgbClr val="888888">
                <a:alpha val="16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5" name="Shape 21"/>
          <p:cNvSpPr/>
          <p:nvPr/>
        </p:nvSpPr>
        <p:spPr>
          <a:xfrm>
            <a:off x="4247388" y="4407408"/>
            <a:ext cx="1476756" cy="329184"/>
          </a:xfrm>
          <a:prstGeom prst="roundRect">
            <a:avLst>
              <a:gd name="adj" fmla="val 50000"/>
            </a:avLst>
          </a:prstGeom>
          <a:solidFill>
            <a:srgbClr val="B5820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Text 22"/>
          <p:cNvSpPr/>
          <p:nvPr/>
        </p:nvSpPr>
        <p:spPr>
          <a:xfrm>
            <a:off x="4247388" y="4407408"/>
            <a:ext cx="14767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form context</a:t>
            </a:r>
            <a:endParaRPr lang="en-US" sz="1050" dirty="0"/>
          </a:p>
        </p:txBody>
      </p:sp>
      <p:sp>
        <p:nvSpPr>
          <p:cNvPr id="27" name="Shape 23"/>
          <p:cNvSpPr/>
          <p:nvPr/>
        </p:nvSpPr>
        <p:spPr>
          <a:xfrm>
            <a:off x="786384" y="4425696"/>
            <a:ext cx="603504" cy="603504"/>
          </a:xfrm>
          <a:prstGeom prst="ellipse">
            <a:avLst/>
          </a:prstGeom>
          <a:solidFill>
            <a:srgbClr val="003865"/>
          </a:solidFill>
          <a:ln/>
          <a:effectLst>
            <a:outerShdw blurRad="76200" dist="25400" dir="5400000" algn="bl" rotWithShape="0">
              <a:srgbClr val="888888">
                <a:alpha val="16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8" name="Image 2" descr="/tmp/build/icons/vect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95" y="4582607"/>
            <a:ext cx="289682" cy="289682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1499616" y="4370832"/>
            <a:ext cx="26563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9DB0AC"/>
                </a:solidFill>
              </a:rPr>
              <a:t>03   </a:t>
            </a:r>
            <a:r>
              <a:rPr lang="en-US" sz="1500" b="1" dirty="0">
                <a:solidFill>
                  <a:srgbClr val="2B2B2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Vector similarity matching</a:t>
            </a:r>
            <a:endParaRPr lang="en-US" sz="1300" dirty="0"/>
          </a:p>
        </p:txBody>
      </p:sp>
      <p:sp>
        <p:nvSpPr>
          <p:cNvPr id="30" name="Text 25"/>
          <p:cNvSpPr/>
          <p:nvPr/>
        </p:nvSpPr>
        <p:spPr>
          <a:xfrm>
            <a:off x="1499616" y="4754880"/>
            <a:ext cx="32049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i="1" dirty="0">
                <a:solidFill>
                  <a:srgbClr val="6B6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BGE-small-en + FAISS</a:t>
            </a:r>
            <a:endParaRPr lang="en-US" sz="1150" dirty="0"/>
          </a:p>
        </p:txBody>
      </p:sp>
      <p:sp>
        <p:nvSpPr>
          <p:cNvPr id="31" name="Text 26"/>
          <p:cNvSpPr/>
          <p:nvPr/>
        </p:nvSpPr>
        <p:spPr>
          <a:xfrm>
            <a:off x="804672" y="5084064"/>
            <a:ext cx="48828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30" dirty="0">
                <a:solidFill>
                  <a:srgbClr val="5558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Labels encoded as vectors; nearest SDTM match found mathematically. Low accuracy, but no hallucinations. "Result" is identical on VS / LB / EG, so it can't tell VS.VSORRES from LB.LBORRES — it lacks form-level context.</a:t>
            </a:r>
            <a:endParaRPr lang="en-US" sz="1130" dirty="0"/>
          </a:p>
        </p:txBody>
      </p:sp>
      <p:sp>
        <p:nvSpPr>
          <p:cNvPr id="32" name="Shape 27"/>
          <p:cNvSpPr/>
          <p:nvPr/>
        </p:nvSpPr>
        <p:spPr>
          <a:xfrm>
            <a:off x="6309360" y="4187952"/>
            <a:ext cx="5394960" cy="1755648"/>
          </a:xfrm>
          <a:prstGeom prst="roundRect">
            <a:avLst>
              <a:gd name="adj" fmla="val 5208"/>
            </a:avLst>
          </a:prstGeom>
          <a:solidFill>
            <a:srgbClr val="F6EEF4"/>
          </a:solidFill>
          <a:ln w="25400">
            <a:solidFill>
              <a:srgbClr val="830051"/>
            </a:solidFill>
            <a:prstDash val="solid"/>
          </a:ln>
          <a:effectLst>
            <a:outerShdw blurRad="76200" dist="25400" dir="5400000" algn="bl" rotWithShape="0">
              <a:srgbClr val="888888">
                <a:alpha val="16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3" name="Shape 28"/>
          <p:cNvSpPr/>
          <p:nvPr/>
        </p:nvSpPr>
        <p:spPr>
          <a:xfrm>
            <a:off x="10707624" y="4407408"/>
            <a:ext cx="777240" cy="329184"/>
          </a:xfrm>
          <a:prstGeom prst="roundRect">
            <a:avLst>
              <a:gd name="adj" fmla="val 50000"/>
            </a:avLst>
          </a:prstGeom>
          <a:solidFill>
            <a:srgbClr val="83005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4" name="Text 29"/>
          <p:cNvSpPr/>
          <p:nvPr/>
        </p:nvSpPr>
        <p:spPr>
          <a:xfrm>
            <a:off x="10707624" y="440740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Chosen</a:t>
            </a:r>
            <a:endParaRPr lang="en-US" sz="1050" dirty="0"/>
          </a:p>
        </p:txBody>
      </p:sp>
      <p:sp>
        <p:nvSpPr>
          <p:cNvPr id="35" name="Shape 30"/>
          <p:cNvSpPr/>
          <p:nvPr/>
        </p:nvSpPr>
        <p:spPr>
          <a:xfrm>
            <a:off x="6547104" y="4425696"/>
            <a:ext cx="603504" cy="603504"/>
          </a:xfrm>
          <a:prstGeom prst="ellipse">
            <a:avLst/>
          </a:prstGeom>
          <a:solidFill>
            <a:srgbClr val="830051"/>
          </a:solidFill>
          <a:ln/>
          <a:effectLst>
            <a:outerShdw blurRad="76200" dist="25400" dir="5400000" algn="bl" rotWithShape="0">
              <a:srgbClr val="888888">
                <a:alpha val="16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36" name="Image 3" descr="/tmp/build/icons/che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04015" y="4582607"/>
            <a:ext cx="289682" cy="289682"/>
          </a:xfrm>
          <a:prstGeom prst="rect">
            <a:avLst/>
          </a:prstGeom>
        </p:spPr>
      </p:pic>
      <p:sp>
        <p:nvSpPr>
          <p:cNvPr id="37" name="Text 31"/>
          <p:cNvSpPr/>
          <p:nvPr/>
        </p:nvSpPr>
        <p:spPr>
          <a:xfrm>
            <a:off x="7260336" y="4370832"/>
            <a:ext cx="3355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9DB0AC"/>
                </a:solidFill>
              </a:rPr>
              <a:t>04   </a:t>
            </a:r>
            <a:r>
              <a:rPr lang="en-US" sz="1500" b="1" dirty="0">
                <a:solidFill>
                  <a:srgbClr val="83005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Specification-driven resolution</a:t>
            </a:r>
            <a:endParaRPr lang="en-US" sz="1300" dirty="0"/>
          </a:p>
        </p:txBody>
      </p:sp>
      <p:sp>
        <p:nvSpPr>
          <p:cNvPr id="38" name="Text 32"/>
          <p:cNvSpPr/>
          <p:nvPr/>
        </p:nvSpPr>
        <p:spPr>
          <a:xfrm>
            <a:off x="7260336" y="4754880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i="1" dirty="0">
                <a:solidFill>
                  <a:srgbClr val="6B6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Chosen approach</a:t>
            </a:r>
            <a:endParaRPr lang="en-US" sz="1150" dirty="0"/>
          </a:p>
        </p:txBody>
      </p:sp>
      <p:sp>
        <p:nvSpPr>
          <p:cNvPr id="39" name="Text 33"/>
          <p:cNvSpPr/>
          <p:nvPr/>
        </p:nvSpPr>
        <p:spPr>
          <a:xfrm>
            <a:off x="6565392" y="5084064"/>
            <a:ext cx="48828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3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 SDTM specs parsed into per-form knowledge bases — each form gets its own scoped, valid mappings. Form-aware, fully traceable, deterministic output. This is the approach taken forward.</a:t>
            </a:r>
            <a:endParaRPr lang="en-US" sz="113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D00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83005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High-level architecture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259007" y="420624"/>
            <a:ext cx="384048" cy="384048"/>
          </a:xfrm>
          <a:prstGeom prst="ellipse">
            <a:avLst/>
          </a:prstGeom>
          <a:solidFill>
            <a:srgbClr val="83005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11259007" y="4206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B6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aCRF Annotation Engine</a:t>
            </a:r>
            <a:r>
              <a:rPr lang="en-US" sz="900" dirty="0">
                <a:solidFill>
                  <a:srgbClr val="9DB0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AstraZeneca  ·  R&amp;I Statistical Programming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1970166" cy="361188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12700">
            <a:solidFill>
              <a:srgbClr val="E4E1E5"/>
            </a:solidFill>
            <a:prstDash val="solid"/>
          </a:ln>
          <a:effectLst>
            <a:outerShdw blurRad="76200" dist="25400" dir="5400000" algn="bl" rotWithShape="0">
              <a:srgbClr val="888888">
                <a:alpha val="16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1970166" cy="1371600"/>
          </a:xfrm>
          <a:prstGeom prst="roundRect">
            <a:avLst>
              <a:gd name="adj" fmla="val 6667"/>
            </a:avLst>
          </a:prstGeom>
          <a:solidFill>
            <a:srgbClr val="00386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548640" y="3017520"/>
            <a:ext cx="1970166" cy="320040"/>
          </a:xfrm>
          <a:prstGeom prst="rect">
            <a:avLst/>
          </a:prstGeom>
          <a:solidFill>
            <a:srgbClr val="003865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1" name="Image 0" descr="/tmp/build/icons/input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8158" y="2393899"/>
            <a:ext cx="351130" cy="35113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658368" y="3026664"/>
            <a:ext cx="17507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694944" y="3447288"/>
            <a:ext cx="167755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83005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Input Layer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731520" y="4178808"/>
            <a:ext cx="160440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080" dirty="0">
                <a:solidFill>
                  <a:srgbClr val="5558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Blank CRF PDF, AZ RAW-to-SDTM spec, AZ SDTM standards &amp; controlled terminology — the essential inputs.</a:t>
            </a:r>
            <a:endParaRPr lang="en-US" sz="1080" dirty="0"/>
          </a:p>
        </p:txBody>
      </p:sp>
      <p:sp>
        <p:nvSpPr>
          <p:cNvPr id="15" name="Shape 12"/>
          <p:cNvSpPr/>
          <p:nvPr/>
        </p:nvSpPr>
        <p:spPr>
          <a:xfrm>
            <a:off x="2500518" y="2423160"/>
            <a:ext cx="329184" cy="457200"/>
          </a:xfrm>
          <a:prstGeom prst="chevron">
            <a:avLst/>
          </a:prstGeom>
          <a:solidFill>
            <a:srgbClr val="9DB0A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Shape 13"/>
          <p:cNvSpPr/>
          <p:nvPr/>
        </p:nvSpPr>
        <p:spPr>
          <a:xfrm>
            <a:off x="2829702" y="1965960"/>
            <a:ext cx="1970166" cy="361188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12700">
            <a:solidFill>
              <a:srgbClr val="E4E1E5"/>
            </a:solidFill>
            <a:prstDash val="solid"/>
          </a:ln>
          <a:effectLst>
            <a:outerShdw blurRad="76200" dist="25400" dir="5400000" algn="bl" rotWithShape="0">
              <a:srgbClr val="888888">
                <a:alpha val="16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7" name="Shape 14"/>
          <p:cNvSpPr/>
          <p:nvPr/>
        </p:nvSpPr>
        <p:spPr>
          <a:xfrm>
            <a:off x="2829702" y="1965960"/>
            <a:ext cx="1970166" cy="1371600"/>
          </a:xfrm>
          <a:prstGeom prst="roundRect">
            <a:avLst>
              <a:gd name="adj" fmla="val 6667"/>
            </a:avLst>
          </a:prstGeom>
          <a:solidFill>
            <a:srgbClr val="83005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Shape 15"/>
          <p:cNvSpPr/>
          <p:nvPr/>
        </p:nvSpPr>
        <p:spPr>
          <a:xfrm>
            <a:off x="2829702" y="3017520"/>
            <a:ext cx="1970166" cy="320040"/>
          </a:xfrm>
          <a:prstGeom prst="rect">
            <a:avLst/>
          </a:prstGeom>
          <a:solidFill>
            <a:srgbClr val="830051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20" name="Image 1" descr="/tmp/build/icons/db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39221" y="2393899"/>
            <a:ext cx="351130" cy="35113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2939430" y="3026664"/>
            <a:ext cx="17507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950" dirty="0"/>
          </a:p>
        </p:txBody>
      </p:sp>
      <p:sp>
        <p:nvSpPr>
          <p:cNvPr id="22" name="Text 18"/>
          <p:cNvSpPr/>
          <p:nvPr/>
        </p:nvSpPr>
        <p:spPr>
          <a:xfrm>
            <a:off x="2976006" y="3447288"/>
            <a:ext cx="167755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83005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Cache &amp; Index Builder</a:t>
            </a:r>
            <a:endParaRPr lang="en-US" sz="1400" dirty="0"/>
          </a:p>
        </p:txBody>
      </p:sp>
      <p:sp>
        <p:nvSpPr>
          <p:cNvPr id="23" name="Text 19"/>
          <p:cNvSpPr/>
          <p:nvPr/>
        </p:nvSpPr>
        <p:spPr>
          <a:xfrm>
            <a:off x="3012582" y="4178808"/>
            <a:ext cx="160440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080" dirty="0">
                <a:solidFill>
                  <a:srgbClr val="5558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Parses Excel specs into structured JSON knowledge bases (openpyxl, json, pathlib); builds registries &amp; lookup tables for fast indexing.</a:t>
            </a:r>
            <a:endParaRPr lang="en-US" sz="1080" dirty="0"/>
          </a:p>
        </p:txBody>
      </p:sp>
      <p:sp>
        <p:nvSpPr>
          <p:cNvPr id="24" name="Shape 20"/>
          <p:cNvSpPr/>
          <p:nvPr/>
        </p:nvSpPr>
        <p:spPr>
          <a:xfrm>
            <a:off x="4781580" y="2423160"/>
            <a:ext cx="329184" cy="457200"/>
          </a:xfrm>
          <a:prstGeom prst="chevron">
            <a:avLst/>
          </a:prstGeom>
          <a:solidFill>
            <a:srgbClr val="9DB0A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" name="Shape 21"/>
          <p:cNvSpPr/>
          <p:nvPr/>
        </p:nvSpPr>
        <p:spPr>
          <a:xfrm>
            <a:off x="5110764" y="1965960"/>
            <a:ext cx="1970166" cy="361188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12700">
            <a:solidFill>
              <a:srgbClr val="E4E1E5"/>
            </a:solidFill>
            <a:prstDash val="solid"/>
          </a:ln>
          <a:effectLst>
            <a:outerShdw blurRad="76200" dist="25400" dir="5400000" algn="bl" rotWithShape="0">
              <a:srgbClr val="888888">
                <a:alpha val="16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6" name="Shape 22"/>
          <p:cNvSpPr/>
          <p:nvPr/>
        </p:nvSpPr>
        <p:spPr>
          <a:xfrm>
            <a:off x="5110764" y="1965960"/>
            <a:ext cx="1970166" cy="1371600"/>
          </a:xfrm>
          <a:prstGeom prst="roundRect">
            <a:avLst>
              <a:gd name="adj" fmla="val 6667"/>
            </a:avLst>
          </a:prstGeom>
          <a:solidFill>
            <a:srgbClr val="00386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Shape 23"/>
          <p:cNvSpPr/>
          <p:nvPr/>
        </p:nvSpPr>
        <p:spPr>
          <a:xfrm>
            <a:off x="5110764" y="3017520"/>
            <a:ext cx="1970166" cy="320040"/>
          </a:xfrm>
          <a:prstGeom prst="rect">
            <a:avLst/>
          </a:prstGeom>
          <a:solidFill>
            <a:srgbClr val="003865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29" name="Image 2" descr="/tmp/build/icons/parse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20283" y="2393899"/>
            <a:ext cx="351130" cy="351130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5220492" y="3026664"/>
            <a:ext cx="17507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950" dirty="0"/>
          </a:p>
        </p:txBody>
      </p:sp>
      <p:sp>
        <p:nvSpPr>
          <p:cNvPr id="31" name="Text 26"/>
          <p:cNvSpPr/>
          <p:nvPr/>
        </p:nvSpPr>
        <p:spPr>
          <a:xfrm>
            <a:off x="5257068" y="3447288"/>
            <a:ext cx="167755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83005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PDF Parsing Engine</a:t>
            </a:r>
            <a:endParaRPr lang="en-US" sz="1400" dirty="0"/>
          </a:p>
        </p:txBody>
      </p:sp>
      <p:sp>
        <p:nvSpPr>
          <p:cNvPr id="32" name="Text 27"/>
          <p:cNvSpPr/>
          <p:nvPr/>
        </p:nvSpPr>
        <p:spPr>
          <a:xfrm>
            <a:off x="5293644" y="4178808"/>
            <a:ext cx="160440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080" dirty="0">
                <a:solidFill>
                  <a:srgbClr val="5558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PyMuPDF extracts form structure, labels, positions &amp; codelist values; regex normalisation strips instructional text &amp; helper fields.</a:t>
            </a:r>
            <a:endParaRPr lang="en-US" sz="1080" dirty="0"/>
          </a:p>
        </p:txBody>
      </p:sp>
      <p:sp>
        <p:nvSpPr>
          <p:cNvPr id="33" name="Shape 28"/>
          <p:cNvSpPr/>
          <p:nvPr/>
        </p:nvSpPr>
        <p:spPr>
          <a:xfrm>
            <a:off x="7062643" y="2423160"/>
            <a:ext cx="329184" cy="457200"/>
          </a:xfrm>
          <a:prstGeom prst="chevron">
            <a:avLst/>
          </a:prstGeom>
          <a:solidFill>
            <a:srgbClr val="9DB0A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4" name="Shape 29"/>
          <p:cNvSpPr/>
          <p:nvPr/>
        </p:nvSpPr>
        <p:spPr>
          <a:xfrm>
            <a:off x="7391827" y="1965960"/>
            <a:ext cx="1970166" cy="361188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12700">
            <a:solidFill>
              <a:srgbClr val="E4E1E5"/>
            </a:solidFill>
            <a:prstDash val="solid"/>
          </a:ln>
          <a:effectLst>
            <a:outerShdw blurRad="76200" dist="25400" dir="5400000" algn="bl" rotWithShape="0">
              <a:srgbClr val="888888">
                <a:alpha val="16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5" name="Shape 30"/>
          <p:cNvSpPr/>
          <p:nvPr/>
        </p:nvSpPr>
        <p:spPr>
          <a:xfrm>
            <a:off x="7391827" y="1965960"/>
            <a:ext cx="1970166" cy="1371600"/>
          </a:xfrm>
          <a:prstGeom prst="roundRect">
            <a:avLst>
              <a:gd name="adj" fmla="val 6667"/>
            </a:avLst>
          </a:prstGeom>
          <a:solidFill>
            <a:srgbClr val="83005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6" name="Shape 31"/>
          <p:cNvSpPr/>
          <p:nvPr/>
        </p:nvSpPr>
        <p:spPr>
          <a:xfrm>
            <a:off x="7391827" y="3017520"/>
            <a:ext cx="1970166" cy="320040"/>
          </a:xfrm>
          <a:prstGeom prst="rect">
            <a:avLst/>
          </a:prstGeom>
          <a:solidFill>
            <a:srgbClr val="830051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8" name="Image 3" descr="/tmp/build/icons/layers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01345" y="2393899"/>
            <a:ext cx="351130" cy="351130"/>
          </a:xfrm>
          <a:prstGeom prst="rect">
            <a:avLst/>
          </a:prstGeom>
        </p:spPr>
      </p:pic>
      <p:sp>
        <p:nvSpPr>
          <p:cNvPr id="39" name="Text 33"/>
          <p:cNvSpPr/>
          <p:nvPr/>
        </p:nvSpPr>
        <p:spPr>
          <a:xfrm>
            <a:off x="7501555" y="3026664"/>
            <a:ext cx="17507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</a:t>
            </a:r>
            <a:endParaRPr lang="en-US" sz="950" dirty="0"/>
          </a:p>
        </p:txBody>
      </p:sp>
      <p:sp>
        <p:nvSpPr>
          <p:cNvPr id="40" name="Text 34"/>
          <p:cNvSpPr/>
          <p:nvPr/>
        </p:nvSpPr>
        <p:spPr>
          <a:xfrm>
            <a:off x="7538131" y="3447288"/>
            <a:ext cx="167755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83005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Resolution Engine</a:t>
            </a:r>
            <a:endParaRPr lang="en-US" sz="1400" dirty="0"/>
          </a:p>
        </p:txBody>
      </p:sp>
      <p:sp>
        <p:nvSpPr>
          <p:cNvPr id="41" name="Text 35"/>
          <p:cNvSpPr/>
          <p:nvPr/>
        </p:nvSpPr>
        <p:spPr>
          <a:xfrm>
            <a:off x="7574707" y="4178808"/>
            <a:ext cx="160440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080" dirty="0">
                <a:solidFill>
                  <a:srgbClr val="5558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in tiers: exact form-scoped match → cross-module match → flags “not submitted”. Each match is confidence-scored; only unsure fields escalate. ~90% mapped automatically, ~10% routed to human review.</a:t>
            </a:r>
            <a:endParaRPr lang="en-US" sz="1080" dirty="0"/>
          </a:p>
        </p:txBody>
      </p:sp>
      <p:sp>
        <p:nvSpPr>
          <p:cNvPr id="42" name="Shape 36"/>
          <p:cNvSpPr/>
          <p:nvPr/>
        </p:nvSpPr>
        <p:spPr>
          <a:xfrm>
            <a:off x="9343705" y="2423160"/>
            <a:ext cx="329184" cy="457200"/>
          </a:xfrm>
          <a:prstGeom prst="chevron">
            <a:avLst/>
          </a:prstGeom>
          <a:solidFill>
            <a:srgbClr val="9DB0A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3" name="Shape 37"/>
          <p:cNvSpPr/>
          <p:nvPr/>
        </p:nvSpPr>
        <p:spPr>
          <a:xfrm>
            <a:off x="9672889" y="1965960"/>
            <a:ext cx="1970166" cy="361188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12700">
            <a:solidFill>
              <a:srgbClr val="E4E1E5"/>
            </a:solidFill>
            <a:prstDash val="solid"/>
          </a:ln>
          <a:effectLst>
            <a:outerShdw blurRad="76200" dist="25400" dir="5400000" algn="bl" rotWithShape="0">
              <a:srgbClr val="888888">
                <a:alpha val="16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44" name="Shape 38"/>
          <p:cNvSpPr/>
          <p:nvPr/>
        </p:nvSpPr>
        <p:spPr>
          <a:xfrm>
            <a:off x="9672889" y="1965960"/>
            <a:ext cx="1970166" cy="1371600"/>
          </a:xfrm>
          <a:prstGeom prst="roundRect">
            <a:avLst>
              <a:gd name="adj" fmla="val 6667"/>
            </a:avLst>
          </a:prstGeom>
          <a:solidFill>
            <a:srgbClr val="00386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5" name="Shape 39"/>
          <p:cNvSpPr/>
          <p:nvPr/>
        </p:nvSpPr>
        <p:spPr>
          <a:xfrm>
            <a:off x="9672889" y="3017520"/>
            <a:ext cx="1970166" cy="320040"/>
          </a:xfrm>
          <a:prstGeom prst="rect">
            <a:avLst/>
          </a:prstGeom>
          <a:solidFill>
            <a:srgbClr val="003865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47" name="Image 4" descr="/tmp/build/icons/pen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82407" y="2393899"/>
            <a:ext cx="351130" cy="351130"/>
          </a:xfrm>
          <a:prstGeom prst="rect">
            <a:avLst/>
          </a:prstGeom>
        </p:spPr>
      </p:pic>
      <p:sp>
        <p:nvSpPr>
          <p:cNvPr id="48" name="Text 41"/>
          <p:cNvSpPr/>
          <p:nvPr/>
        </p:nvSpPr>
        <p:spPr>
          <a:xfrm>
            <a:off x="9782617" y="3026664"/>
            <a:ext cx="17507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</a:t>
            </a:r>
            <a:endParaRPr lang="en-US" sz="950" dirty="0"/>
          </a:p>
        </p:txBody>
      </p:sp>
      <p:sp>
        <p:nvSpPr>
          <p:cNvPr id="49" name="Text 42"/>
          <p:cNvSpPr/>
          <p:nvPr/>
        </p:nvSpPr>
        <p:spPr>
          <a:xfrm>
            <a:off x="9819193" y="3447288"/>
            <a:ext cx="167755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83005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PDF Annotation Writer</a:t>
            </a:r>
            <a:endParaRPr lang="en-US" sz="1400" dirty="0"/>
          </a:p>
        </p:txBody>
      </p:sp>
      <p:sp>
        <p:nvSpPr>
          <p:cNvPr id="50" name="Text 43"/>
          <p:cNvSpPr/>
          <p:nvPr/>
        </p:nvSpPr>
        <p:spPr>
          <a:xfrm>
            <a:off x="9855769" y="4178808"/>
            <a:ext cx="160440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080" dirty="0">
                <a:solidFill>
                  <a:srgbClr val="5558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PyMuPDF writes the annotated CRF — colour-coded domain boxes, dataset headers, codelist codes, overlap avoidance &amp; navigation bookmarks.</a:t>
            </a:r>
            <a:endParaRPr lang="en-US" sz="10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D00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RESOLUTION ENGINE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83005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 tiered cascade with confidence scoring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259007" y="420624"/>
            <a:ext cx="384048" cy="384048"/>
          </a:xfrm>
          <a:prstGeom prst="ellipse">
            <a:avLst/>
          </a:prstGeom>
          <a:solidFill>
            <a:srgbClr val="83005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11259007" y="4206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B6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aCRF Annotation Engine</a:t>
            </a:r>
            <a:r>
              <a:rPr lang="en-US" sz="900" dirty="0">
                <a:solidFill>
                  <a:srgbClr val="9DB0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AstraZeneca  ·  R&amp;I Statistical Programming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1444752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300" dirty="0">
                <a:solidFill>
                  <a:srgbClr val="6B6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escalate to the next tier only if unresolved by the previous one — each tier assigns a confidence score, and net automation reaches ~90% with ~10% routed to manual review.</a:t>
            </a:r>
            <a:endParaRPr lang="en-US" sz="1300" dirty="0"/>
          </a:p>
        </p:txBody>
      </p:sp>
      <p:pic>
        <p:nvPicPr>
          <p:cNvPr id="8" name="Image 0" descr="/tmp/build/assets/resolution_eng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768" y="1938528"/>
            <a:ext cx="10424160" cy="3510109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48640" y="5631517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00386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7"/>
          <p:cNvSpPr/>
          <p:nvPr/>
        </p:nvSpPr>
        <p:spPr>
          <a:xfrm>
            <a:off x="548640" y="5631517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0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1481328" y="5613229"/>
            <a:ext cx="24606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2B2B2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Form-scoped match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548640" y="5924125"/>
            <a:ext cx="3393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960" dirty="0">
                <a:solidFill>
                  <a:srgbClr val="6B6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the form code from the page header, scopes to that form's mappings, and matches the field label — exact, context-verified.</a:t>
            </a:r>
            <a:endParaRPr lang="en-US" sz="960" dirty="0"/>
          </a:p>
        </p:txBody>
      </p:sp>
      <p:sp>
        <p:nvSpPr>
          <p:cNvPr id="13" name="Shape 10"/>
          <p:cNvSpPr/>
          <p:nvPr/>
        </p:nvSpPr>
        <p:spPr>
          <a:xfrm>
            <a:off x="4399178" y="5631517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83005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1"/>
          <p:cNvSpPr/>
          <p:nvPr/>
        </p:nvSpPr>
        <p:spPr>
          <a:xfrm>
            <a:off x="4399178" y="5631517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1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5331866" y="5613229"/>
            <a:ext cx="24606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2B2B2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NOT SUBMITTED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4399178" y="5924125"/>
            <a:ext cx="3393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960" dirty="0">
                <a:solidFill>
                  <a:srgbClr val="6B6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 fields that should never map — e.g. "Field created for RSG to calculate height" — instead of forcing a wrong mapping.</a:t>
            </a:r>
            <a:endParaRPr lang="en-US" sz="960" dirty="0"/>
          </a:p>
        </p:txBody>
      </p:sp>
      <p:sp>
        <p:nvSpPr>
          <p:cNvPr id="17" name="Shape 14"/>
          <p:cNvSpPr/>
          <p:nvPr/>
        </p:nvSpPr>
        <p:spPr>
          <a:xfrm>
            <a:off x="8249717" y="5631517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Text 15"/>
          <p:cNvSpPr/>
          <p:nvPr/>
        </p:nvSpPr>
        <p:spPr>
          <a:xfrm>
            <a:off x="8249717" y="5631517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2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9182405" y="5613229"/>
            <a:ext cx="24606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2B2B2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Cross-module fuzzy match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8249717" y="5924125"/>
            <a:ext cx="3393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960" dirty="0">
                <a:solidFill>
                  <a:srgbClr val="6B6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Searches all spec modules for in-form leftovers; accepts only above threshold, else leaves it flagged for the programmer.</a:t>
            </a:r>
            <a:endParaRPr lang="en-US" sz="96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D00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GOOD IS THE OUTPUT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83005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Output quality &amp; metrics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259007" y="420624"/>
            <a:ext cx="384048" cy="384048"/>
          </a:xfrm>
          <a:prstGeom prst="ellipse">
            <a:avLst/>
          </a:prstGeom>
          <a:solidFill>
            <a:srgbClr val="83005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11259007" y="4206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B6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aCRF Annotation Engine</a:t>
            </a:r>
            <a:r>
              <a:rPr lang="en-US" sz="900" dirty="0">
                <a:solidFill>
                  <a:srgbClr val="9DB0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AstraZeneca  ·  R&amp;I Statistical Programming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1664208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83005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Confidence by resolving tier</a:t>
            </a:r>
            <a:endParaRPr lang="en-US" sz="1500" dirty="0"/>
          </a:p>
        </p:txBody>
      </p:sp>
      <p:graphicFrame>
        <p:nvGraphicFramePr>
          <p:cNvPr id="8" name="Chart 0"/>
          <p:cNvGraphicFramePr/>
          <p:nvPr/>
        </p:nvGraphicFramePr>
        <p:xfrm>
          <a:off x="457200" y="2048256"/>
          <a:ext cx="5852160" cy="2926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6"/>
          <p:cNvSpPr/>
          <p:nvPr/>
        </p:nvSpPr>
        <p:spPr>
          <a:xfrm>
            <a:off x="548640" y="5065776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6B6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2 varies 0.85–0.95 with label similarity — only accepted above threshold.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629400" y="1664208"/>
            <a:ext cx="5013655" cy="1591056"/>
          </a:xfrm>
          <a:prstGeom prst="roundRect">
            <a:avLst>
              <a:gd name="adj" fmla="val 5747"/>
            </a:avLst>
          </a:prstGeom>
          <a:solidFill>
            <a:srgbClr val="F6EEF4"/>
          </a:solidFill>
          <a:ln/>
          <a:effectLst>
            <a:outerShdw blurRad="76200" dist="25400" dir="5400000" algn="bl" rotWithShape="0">
              <a:srgbClr val="888888">
                <a:alpha val="16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1" name="Shape 8"/>
          <p:cNvSpPr/>
          <p:nvPr/>
        </p:nvSpPr>
        <p:spPr>
          <a:xfrm>
            <a:off x="6903720" y="1901952"/>
            <a:ext cx="548640" cy="548640"/>
          </a:xfrm>
          <a:prstGeom prst="ellipse">
            <a:avLst/>
          </a:prstGeom>
          <a:solidFill>
            <a:srgbClr val="830051"/>
          </a:solidFill>
          <a:ln/>
          <a:effectLst>
            <a:outerShdw blurRad="76200" dist="25400" dir="5400000" algn="bl" rotWithShape="0">
              <a:srgbClr val="888888">
                <a:alpha val="16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12" name="Image 0" descr="/tmp/build/icons/palet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6366" y="2044598"/>
            <a:ext cx="263347" cy="263347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562088" y="1883664"/>
            <a:ext cx="38249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83005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Visual output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6903720" y="2432304"/>
            <a:ext cx="446501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3000"/>
              </a:lnSpc>
              <a:buNone/>
            </a:pPr>
            <a:r>
              <a:rPr lang="en-US" sz="116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Colour-coded annotation boxes by domain class, dataset headers per page, codelist codes in parentheses, and PDF bookmarks for navigation — acceptable first-draft quality.</a:t>
            </a:r>
            <a:endParaRPr lang="en-US" sz="1160" dirty="0"/>
          </a:p>
        </p:txBody>
      </p:sp>
      <p:sp>
        <p:nvSpPr>
          <p:cNvPr id="15" name="Shape 11"/>
          <p:cNvSpPr/>
          <p:nvPr/>
        </p:nvSpPr>
        <p:spPr>
          <a:xfrm>
            <a:off x="6629400" y="3419856"/>
            <a:ext cx="5013655" cy="2889504"/>
          </a:xfrm>
          <a:prstGeom prst="roundRect">
            <a:avLst>
              <a:gd name="adj" fmla="val 3165"/>
            </a:avLst>
          </a:prstGeom>
          <a:solidFill>
            <a:srgbClr val="003865"/>
          </a:solidFill>
          <a:ln/>
          <a:effectLst>
            <a:outerShdw blurRad="88900" dist="38100" dir="5400000" algn="bl" rotWithShape="0">
              <a:srgbClr val="9A8895">
                <a:alpha val="2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6" name="Shape 12"/>
          <p:cNvSpPr/>
          <p:nvPr/>
        </p:nvSpPr>
        <p:spPr>
          <a:xfrm>
            <a:off x="6940296" y="3716243"/>
            <a:ext cx="446593" cy="446593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7" name="Image 1" descr="/tmp/build/icons/perc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0631" y="3851087"/>
            <a:ext cx="190561" cy="19056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616952" y="3675888"/>
            <a:ext cx="38249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How the metrics are defined</a:t>
            </a:r>
            <a:endParaRPr lang="en-US" sz="1500" dirty="0"/>
          </a:p>
        </p:txBody>
      </p:sp>
      <p:sp>
        <p:nvSpPr>
          <p:cNvPr id="19" name="Shape 14"/>
          <p:cNvSpPr/>
          <p:nvPr/>
        </p:nvSpPr>
        <p:spPr>
          <a:xfrm>
            <a:off x="6940296" y="4479036"/>
            <a:ext cx="137160" cy="137160"/>
          </a:xfrm>
          <a:prstGeom prst="ellipse">
            <a:avLst/>
          </a:prstGeom>
          <a:solidFill>
            <a:srgbClr val="68D2D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" name="Text 15"/>
          <p:cNvSpPr/>
          <p:nvPr/>
        </p:nvSpPr>
        <p:spPr>
          <a:xfrm>
            <a:off x="7196328" y="4454590"/>
            <a:ext cx="4172407" cy="428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Resolution rate — </a:t>
            </a:r>
            <a:r>
              <a:rPr lang="en-US" sz="1150" dirty="0">
                <a:solidFill>
                  <a:srgbClr val="CFE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annotated ÷ total data-carrying fields</a:t>
            </a:r>
            <a:endParaRPr lang="en-US" sz="1150" dirty="0"/>
          </a:p>
        </p:txBody>
      </p:sp>
      <p:sp>
        <p:nvSpPr>
          <p:cNvPr id="21" name="Shape 16"/>
          <p:cNvSpPr/>
          <p:nvPr/>
        </p:nvSpPr>
        <p:spPr>
          <a:xfrm>
            <a:off x="6940296" y="5001768"/>
            <a:ext cx="137160" cy="137160"/>
          </a:xfrm>
          <a:prstGeom prst="ellipse">
            <a:avLst/>
          </a:prstGeom>
          <a:solidFill>
            <a:srgbClr val="68D2D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17"/>
          <p:cNvSpPr/>
          <p:nvPr/>
        </p:nvSpPr>
        <p:spPr>
          <a:xfrm>
            <a:off x="7196328" y="4882896"/>
            <a:ext cx="4172407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— </a:t>
            </a:r>
            <a:r>
              <a:rPr lang="en-US" sz="1150" dirty="0">
                <a:solidFill>
                  <a:srgbClr val="CFE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from the tier that resolved a field, averaged across all resolved fields</a:t>
            </a:r>
            <a:endParaRPr lang="en-US" sz="1150" dirty="0"/>
          </a:p>
        </p:txBody>
      </p:sp>
      <p:sp>
        <p:nvSpPr>
          <p:cNvPr id="23" name="Shape 18"/>
          <p:cNvSpPr/>
          <p:nvPr/>
        </p:nvSpPr>
        <p:spPr>
          <a:xfrm>
            <a:off x="6940296" y="5678424"/>
            <a:ext cx="137160" cy="137160"/>
          </a:xfrm>
          <a:prstGeom prst="ellipse">
            <a:avLst/>
          </a:prstGeom>
          <a:solidFill>
            <a:srgbClr val="68D2D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Text 19"/>
          <p:cNvSpPr/>
          <p:nvPr/>
        </p:nvSpPr>
        <p:spPr>
          <a:xfrm>
            <a:off x="7196328" y="5559552"/>
            <a:ext cx="4172407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coverage — </a:t>
            </a:r>
            <a:r>
              <a:rPr lang="en-US" sz="1150" dirty="0">
                <a:solidFill>
                  <a:srgbClr val="CFE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 where every field resolved ÷ total forms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D00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STANDS TODAY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83005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Summary &amp; refinement areas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259007" y="420624"/>
            <a:ext cx="384048" cy="384048"/>
          </a:xfrm>
          <a:prstGeom prst="ellipse">
            <a:avLst/>
          </a:prstGeom>
          <a:solidFill>
            <a:srgbClr val="83005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11259007" y="4206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B6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aCRF Annotation Engine</a:t>
            </a:r>
            <a:r>
              <a:rPr lang="en-US" sz="900" dirty="0">
                <a:solidFill>
                  <a:srgbClr val="9DB0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AstraZeneca  ·  R&amp;I Statistical Programming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64208"/>
            <a:ext cx="4663440" cy="4480560"/>
          </a:xfrm>
          <a:prstGeom prst="roundRect">
            <a:avLst>
              <a:gd name="adj" fmla="val 2449"/>
            </a:avLst>
          </a:prstGeom>
          <a:solidFill>
            <a:srgbClr val="830051"/>
          </a:solidFill>
          <a:ln/>
          <a:effectLst>
            <a:outerShdw blurRad="88900" dist="38100" dir="5400000" algn="bl" rotWithShape="0">
              <a:srgbClr val="9A8895">
                <a:alpha val="2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841248" y="1956816"/>
            <a:ext cx="676656" cy="67665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9" name="Image 0" descr="/tmp/build/icons/troph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179" y="2132747"/>
            <a:ext cx="324795" cy="324795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645920" y="1938528"/>
            <a:ext cx="3337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Strongest-performing domains</a:t>
            </a:r>
            <a:endParaRPr lang="en-US" sz="1650" dirty="0"/>
          </a:p>
        </p:txBody>
      </p:sp>
      <p:sp>
        <p:nvSpPr>
          <p:cNvPr id="11" name="Text 8"/>
          <p:cNvSpPr/>
          <p:nvPr/>
        </p:nvSpPr>
        <p:spPr>
          <a:xfrm>
            <a:off x="841248" y="2761488"/>
            <a:ext cx="40782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3000"/>
              </a:lnSpc>
              <a:buNone/>
            </a:pPr>
            <a:r>
              <a:rPr lang="en-US" sz="1250" dirty="0">
                <a:solidFill>
                  <a:srgbClr val="EAD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at 98% confidence, covering the bulk of standard clinical-trial forms: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841248" y="3364992"/>
            <a:ext cx="698602" cy="512064"/>
          </a:xfrm>
          <a:prstGeom prst="roundRect">
            <a:avLst>
              <a:gd name="adj" fmla="val 1785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68D2D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0"/>
          <p:cNvSpPr/>
          <p:nvPr/>
        </p:nvSpPr>
        <p:spPr>
          <a:xfrm>
            <a:off x="841248" y="3364992"/>
            <a:ext cx="69860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AE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1686154" y="3364992"/>
            <a:ext cx="698602" cy="512064"/>
          </a:xfrm>
          <a:prstGeom prst="roundRect">
            <a:avLst>
              <a:gd name="adj" fmla="val 1785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68D2D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2"/>
          <p:cNvSpPr/>
          <p:nvPr/>
        </p:nvSpPr>
        <p:spPr>
          <a:xfrm>
            <a:off x="1686154" y="3364992"/>
            <a:ext cx="69860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VS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2531059" y="3364992"/>
            <a:ext cx="698602" cy="512064"/>
          </a:xfrm>
          <a:prstGeom prst="roundRect">
            <a:avLst>
              <a:gd name="adj" fmla="val 1785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68D2D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4"/>
          <p:cNvSpPr/>
          <p:nvPr/>
        </p:nvSpPr>
        <p:spPr>
          <a:xfrm>
            <a:off x="2531059" y="3364992"/>
            <a:ext cx="69860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PR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3375965" y="3364992"/>
            <a:ext cx="698602" cy="512064"/>
          </a:xfrm>
          <a:prstGeom prst="roundRect">
            <a:avLst>
              <a:gd name="adj" fmla="val 1785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68D2D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6"/>
          <p:cNvSpPr/>
          <p:nvPr/>
        </p:nvSpPr>
        <p:spPr>
          <a:xfrm>
            <a:off x="3375965" y="3364992"/>
            <a:ext cx="69860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LB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4220870" y="3364992"/>
            <a:ext cx="698602" cy="512064"/>
          </a:xfrm>
          <a:prstGeom prst="roundRect">
            <a:avLst>
              <a:gd name="adj" fmla="val 1785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68D2D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8"/>
          <p:cNvSpPr/>
          <p:nvPr/>
        </p:nvSpPr>
        <p:spPr>
          <a:xfrm>
            <a:off x="4220870" y="3364992"/>
            <a:ext cx="69860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CM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841248" y="4023360"/>
            <a:ext cx="698602" cy="512064"/>
          </a:xfrm>
          <a:prstGeom prst="roundRect">
            <a:avLst>
              <a:gd name="adj" fmla="val 1785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68D2D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0"/>
          <p:cNvSpPr/>
          <p:nvPr/>
        </p:nvSpPr>
        <p:spPr>
          <a:xfrm>
            <a:off x="841248" y="4023360"/>
            <a:ext cx="69860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EG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1686154" y="4023360"/>
            <a:ext cx="698602" cy="512064"/>
          </a:xfrm>
          <a:prstGeom prst="roundRect">
            <a:avLst>
              <a:gd name="adj" fmla="val 1785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68D2D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Text 22"/>
          <p:cNvSpPr/>
          <p:nvPr/>
        </p:nvSpPr>
        <p:spPr>
          <a:xfrm>
            <a:off x="1686154" y="4023360"/>
            <a:ext cx="69860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MH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2531059" y="4023360"/>
            <a:ext cx="698602" cy="512064"/>
          </a:xfrm>
          <a:prstGeom prst="roundRect">
            <a:avLst>
              <a:gd name="adj" fmla="val 1785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68D2D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7" name="Text 24"/>
          <p:cNvSpPr/>
          <p:nvPr/>
        </p:nvSpPr>
        <p:spPr>
          <a:xfrm>
            <a:off x="2531059" y="4023360"/>
            <a:ext cx="69860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DM</a:t>
            </a:r>
            <a:endParaRPr lang="en-US" sz="1600" dirty="0"/>
          </a:p>
        </p:txBody>
      </p:sp>
      <p:sp>
        <p:nvSpPr>
          <p:cNvPr id="28" name="Shape 25"/>
          <p:cNvSpPr/>
          <p:nvPr/>
        </p:nvSpPr>
        <p:spPr>
          <a:xfrm>
            <a:off x="3375965" y="4023360"/>
            <a:ext cx="698602" cy="512064"/>
          </a:xfrm>
          <a:prstGeom prst="roundRect">
            <a:avLst>
              <a:gd name="adj" fmla="val 1785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68D2D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Text 26"/>
          <p:cNvSpPr/>
          <p:nvPr/>
        </p:nvSpPr>
        <p:spPr>
          <a:xfrm>
            <a:off x="3375965" y="4023360"/>
            <a:ext cx="69860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IE</a:t>
            </a:r>
            <a:endParaRPr lang="en-US" sz="1600" dirty="0"/>
          </a:p>
        </p:txBody>
      </p:sp>
      <p:sp>
        <p:nvSpPr>
          <p:cNvPr id="30" name="Shape 27"/>
          <p:cNvSpPr/>
          <p:nvPr/>
        </p:nvSpPr>
        <p:spPr>
          <a:xfrm>
            <a:off x="4220870" y="4023360"/>
            <a:ext cx="698602" cy="512064"/>
          </a:xfrm>
          <a:prstGeom prst="roundRect">
            <a:avLst>
              <a:gd name="adj" fmla="val 1785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68D2D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Text 28"/>
          <p:cNvSpPr/>
          <p:nvPr/>
        </p:nvSpPr>
        <p:spPr>
          <a:xfrm>
            <a:off x="4220870" y="4023360"/>
            <a:ext cx="69860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SV</a:t>
            </a:r>
            <a:endParaRPr lang="en-US" sz="1600" dirty="0"/>
          </a:p>
        </p:txBody>
      </p:sp>
      <p:sp>
        <p:nvSpPr>
          <p:cNvPr id="32" name="Text 29"/>
          <p:cNvSpPr/>
          <p:nvPr/>
        </p:nvSpPr>
        <p:spPr>
          <a:xfrm>
            <a:off x="841248" y="5431536"/>
            <a:ext cx="4078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68D2D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98% confidence</a:t>
            </a:r>
            <a:endParaRPr lang="en-US" sz="2200" dirty="0"/>
          </a:p>
        </p:txBody>
      </p:sp>
      <p:sp>
        <p:nvSpPr>
          <p:cNvPr id="33" name="Text 30"/>
          <p:cNvSpPr/>
          <p:nvPr/>
        </p:nvSpPr>
        <p:spPr>
          <a:xfrm>
            <a:off x="5532120" y="1664208"/>
            <a:ext cx="61109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83005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Refinement areas — where study-level context is still needed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5532120" y="2121408"/>
            <a:ext cx="2909164" cy="1755648"/>
          </a:xfrm>
          <a:prstGeom prst="roundRect">
            <a:avLst>
              <a:gd name="adj" fmla="val 5208"/>
            </a:avLst>
          </a:prstGeom>
          <a:solidFill>
            <a:srgbClr val="EEF3F6"/>
          </a:solidFill>
          <a:ln/>
          <a:effectLst>
            <a:outerShdw blurRad="76200" dist="25400" dir="5400000" algn="bl" rotWithShape="0">
              <a:srgbClr val="888888">
                <a:alpha val="16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36" name="Image 1" descr="/tmp/build/icons/wren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4713" y="2474001"/>
            <a:ext cx="245791" cy="245791"/>
          </a:xfrm>
          <a:prstGeom prst="rect">
            <a:avLst/>
          </a:prstGeom>
        </p:spPr>
      </p:pic>
      <p:sp>
        <p:nvSpPr>
          <p:cNvPr id="37" name="Text 33"/>
          <p:cNvSpPr/>
          <p:nvPr/>
        </p:nvSpPr>
        <p:spPr>
          <a:xfrm>
            <a:off x="6373368" y="2340864"/>
            <a:ext cx="18484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003865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Gating questions</a:t>
            </a:r>
            <a:endParaRPr lang="en-US" sz="1400" dirty="0"/>
          </a:p>
        </p:txBody>
      </p:sp>
      <p:sp>
        <p:nvSpPr>
          <p:cNvPr id="38" name="Text 34"/>
          <p:cNvSpPr/>
          <p:nvPr/>
        </p:nvSpPr>
        <p:spPr>
          <a:xfrm>
            <a:off x="5769864" y="2907792"/>
            <a:ext cx="243367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dirty="0">
                <a:solidFill>
                  <a:srgbClr val="5558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Yes/No fields that trigger a section sometimes map to the topic variable instead of NOT SUBMITTED — distinguishing them needs study-level context.</a:t>
            </a:r>
            <a:endParaRPr lang="en-US" sz="1100" dirty="0"/>
          </a:p>
        </p:txBody>
      </p:sp>
      <p:sp>
        <p:nvSpPr>
          <p:cNvPr id="39" name="Shape 35"/>
          <p:cNvSpPr/>
          <p:nvPr/>
        </p:nvSpPr>
        <p:spPr>
          <a:xfrm>
            <a:off x="8733892" y="2121408"/>
            <a:ext cx="2909164" cy="1755648"/>
          </a:xfrm>
          <a:prstGeom prst="roundRect">
            <a:avLst>
              <a:gd name="adj" fmla="val 5208"/>
            </a:avLst>
          </a:prstGeom>
          <a:solidFill>
            <a:srgbClr val="EEF3F6"/>
          </a:solidFill>
          <a:ln/>
          <a:effectLst>
            <a:outerShdw blurRad="76200" dist="25400" dir="5400000" algn="bl" rotWithShape="0">
              <a:srgbClr val="888888">
                <a:alpha val="16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41" name="Image 2" descr="/tmp/build/icons/wren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86484" y="2474001"/>
            <a:ext cx="245791" cy="245791"/>
          </a:xfrm>
          <a:prstGeom prst="rect">
            <a:avLst/>
          </a:prstGeom>
        </p:spPr>
      </p:pic>
      <p:sp>
        <p:nvSpPr>
          <p:cNvPr id="42" name="Text 37"/>
          <p:cNvSpPr/>
          <p:nvPr/>
        </p:nvSpPr>
        <p:spPr>
          <a:xfrm>
            <a:off x="9575140" y="2340864"/>
            <a:ext cx="18484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003865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Supplemental qualifiers</a:t>
            </a:r>
            <a:endParaRPr lang="en-US" sz="1400" dirty="0"/>
          </a:p>
        </p:txBody>
      </p:sp>
      <p:sp>
        <p:nvSpPr>
          <p:cNvPr id="43" name="Text 38"/>
          <p:cNvSpPr/>
          <p:nvPr/>
        </p:nvSpPr>
        <p:spPr>
          <a:xfrm>
            <a:off x="8971636" y="2907792"/>
            <a:ext cx="243367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dirty="0">
                <a:solidFill>
                  <a:srgbClr val="5558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SUPP-- variables need extra spec detail for fields like "Reason not performed" and processing date/time fields.</a:t>
            </a:r>
            <a:endParaRPr lang="en-US" sz="1100" dirty="0"/>
          </a:p>
        </p:txBody>
      </p:sp>
      <p:sp>
        <p:nvSpPr>
          <p:cNvPr id="44" name="Shape 39"/>
          <p:cNvSpPr/>
          <p:nvPr/>
        </p:nvSpPr>
        <p:spPr>
          <a:xfrm>
            <a:off x="5532120" y="4133088"/>
            <a:ext cx="2909164" cy="1755648"/>
          </a:xfrm>
          <a:prstGeom prst="roundRect">
            <a:avLst>
              <a:gd name="adj" fmla="val 5208"/>
            </a:avLst>
          </a:prstGeom>
          <a:solidFill>
            <a:srgbClr val="EEF3F6"/>
          </a:solidFill>
          <a:ln/>
          <a:effectLst>
            <a:outerShdw blurRad="76200" dist="25400" dir="5400000" algn="bl" rotWithShape="0">
              <a:srgbClr val="888888">
                <a:alpha val="16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46" name="Image 3" descr="/tmp/build/icons/wren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4713" y="4485681"/>
            <a:ext cx="245791" cy="245791"/>
          </a:xfrm>
          <a:prstGeom prst="rect">
            <a:avLst/>
          </a:prstGeom>
        </p:spPr>
      </p:pic>
      <p:sp>
        <p:nvSpPr>
          <p:cNvPr id="47" name="Text 41"/>
          <p:cNvSpPr/>
          <p:nvPr/>
        </p:nvSpPr>
        <p:spPr>
          <a:xfrm>
            <a:off x="6373368" y="4352544"/>
            <a:ext cx="18484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003865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Duplicate assignments</a:t>
            </a:r>
            <a:endParaRPr lang="en-US" sz="1400" dirty="0"/>
          </a:p>
        </p:txBody>
      </p:sp>
      <p:sp>
        <p:nvSpPr>
          <p:cNvPr id="48" name="Text 42"/>
          <p:cNvSpPr/>
          <p:nvPr/>
        </p:nvSpPr>
        <p:spPr>
          <a:xfrm>
            <a:off x="5769864" y="4919472"/>
            <a:ext cx="243367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dirty="0">
                <a:solidFill>
                  <a:srgbClr val="5558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 where one label serves two purposes (coded result vs free-text reason) — resolvable with field-type awareness.</a:t>
            </a:r>
            <a:endParaRPr lang="en-US" sz="1100" dirty="0"/>
          </a:p>
        </p:txBody>
      </p:sp>
      <p:sp>
        <p:nvSpPr>
          <p:cNvPr id="49" name="Shape 43"/>
          <p:cNvSpPr/>
          <p:nvPr/>
        </p:nvSpPr>
        <p:spPr>
          <a:xfrm>
            <a:off x="8733892" y="4133088"/>
            <a:ext cx="2909164" cy="1755648"/>
          </a:xfrm>
          <a:prstGeom prst="roundRect">
            <a:avLst>
              <a:gd name="adj" fmla="val 5208"/>
            </a:avLst>
          </a:prstGeom>
          <a:solidFill>
            <a:srgbClr val="EEF3F6"/>
          </a:solidFill>
          <a:ln/>
          <a:effectLst>
            <a:outerShdw blurRad="76200" dist="25400" dir="5400000" algn="bl" rotWithShape="0">
              <a:srgbClr val="888888">
                <a:alpha val="16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1" name="Image 4" descr="/tmp/build/icons/wren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86484" y="4485681"/>
            <a:ext cx="245791" cy="245791"/>
          </a:xfrm>
          <a:prstGeom prst="rect">
            <a:avLst/>
          </a:prstGeom>
        </p:spPr>
      </p:pic>
      <p:sp>
        <p:nvSpPr>
          <p:cNvPr id="52" name="Text 45"/>
          <p:cNvSpPr/>
          <p:nvPr/>
        </p:nvSpPr>
        <p:spPr>
          <a:xfrm>
            <a:off x="9575140" y="4352544"/>
            <a:ext cx="18484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003865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Multi-domain forms</a:t>
            </a:r>
            <a:endParaRPr lang="en-US" sz="1400" dirty="0"/>
          </a:p>
        </p:txBody>
      </p:sp>
      <p:sp>
        <p:nvSpPr>
          <p:cNvPr id="53" name="Text 46"/>
          <p:cNvSpPr/>
          <p:nvPr/>
        </p:nvSpPr>
        <p:spPr>
          <a:xfrm>
            <a:off x="8971636" y="4919472"/>
            <a:ext cx="243367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dirty="0">
                <a:solidFill>
                  <a:srgbClr val="5558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EXACATE, INFSS, LIVERSS where a field could be CE, FA or MH — needs protocol context to disambiguate.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8300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2062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68D2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GOES NEXT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Future enhancements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259007" y="457200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11259007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300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572768"/>
            <a:ext cx="11094415" cy="1078992"/>
          </a:xfrm>
          <a:prstGeom prst="roundRect">
            <a:avLst>
              <a:gd name="adj" fmla="val 10169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D0006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859536" y="1847088"/>
            <a:ext cx="548640" cy="548640"/>
          </a:xfrm>
          <a:prstGeom prst="ellipse">
            <a:avLst/>
          </a:prstGeom>
          <a:solidFill>
            <a:srgbClr val="D0006F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8" name="Image 0" descr="/tmp/build/icons/bulb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182" y="1989734"/>
            <a:ext cx="263347" cy="263347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572768" y="1755648"/>
            <a:ext cx="981425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as a supplementary tier — only for the ~10% the engine leaves unresolved.  </a:t>
            </a:r>
            <a:r>
              <a:rPr lang="en-US" sz="1250" dirty="0">
                <a:solidFill>
                  <a:srgbClr val="EAD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 multi-domain forms (EXACATE, INFSS) where disambiguation needs protocol context. The resolution core stays unchanged; the LLM handles only what specification matching cannot.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48640" y="2889504"/>
            <a:ext cx="3657600" cy="2788920"/>
          </a:xfrm>
          <a:prstGeom prst="roundRect">
            <a:avLst>
              <a:gd name="adj" fmla="val 3934"/>
            </a:avLst>
          </a:prstGeom>
          <a:solidFill>
            <a:srgbClr val="4D0030"/>
          </a:solidFill>
          <a:ln/>
          <a:effectLst>
            <a:outerShdw blurRad="88900" dist="38100" dir="5400000" algn="bl" rotWithShape="0">
              <a:srgbClr val="9A8895">
                <a:alpha val="2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1" name="Shape 8"/>
          <p:cNvSpPr/>
          <p:nvPr/>
        </p:nvSpPr>
        <p:spPr>
          <a:xfrm>
            <a:off x="822960" y="3145536"/>
            <a:ext cx="548640" cy="548640"/>
          </a:xfrm>
          <a:prstGeom prst="ellipse">
            <a:avLst/>
          </a:prstGeom>
          <a:solidFill>
            <a:srgbClr val="D0006F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2" name="Image 1" descr="/tmp/build/icons/puzzl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5606" y="3288182"/>
            <a:ext cx="263347" cy="263347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499616" y="3127248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Planned use cases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859536" y="3767328"/>
            <a:ext cx="307238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160" dirty="0">
                <a:solidFill>
                  <a:srgbClr val="EAD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Disambiguate fields spanning domains (e.g. "Shortness of Breath" → CE or FA?)</a:t>
            </a:r>
            <a:endParaRPr lang="en-US" sz="1160" dirty="0"/>
          </a:p>
          <a:p>
            <a:pPr marL="342900" indent="-342900" algn="l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160" dirty="0">
                <a:solidFill>
                  <a:srgbClr val="EAD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MedDRA dictionary-field resolution via contextual inference</a:t>
            </a:r>
            <a:endParaRPr lang="en-US" sz="1160" dirty="0"/>
          </a:p>
          <a:p>
            <a:pPr marL="342900" indent="-342900" algn="l">
              <a:lnSpc>
                <a:spcPct val="100000"/>
              </a:lnSpc>
              <a:buSzPct val="100000"/>
              <a:buChar char="•"/>
            </a:pPr>
            <a:r>
              <a:rPr lang="en-US" sz="1160" dirty="0">
                <a:solidFill>
                  <a:srgbClr val="EAD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check — LLM as a second opinion on low-confidence Tier 2 matches</a:t>
            </a:r>
            <a:endParaRPr lang="en-US" sz="1160" dirty="0"/>
          </a:p>
        </p:txBody>
      </p:sp>
      <p:sp>
        <p:nvSpPr>
          <p:cNvPr id="15" name="Shape 11"/>
          <p:cNvSpPr/>
          <p:nvPr/>
        </p:nvSpPr>
        <p:spPr>
          <a:xfrm>
            <a:off x="4572000" y="2889504"/>
            <a:ext cx="3429000" cy="2788920"/>
          </a:xfrm>
          <a:prstGeom prst="roundRect">
            <a:avLst>
              <a:gd name="adj" fmla="val 3934"/>
            </a:avLst>
          </a:prstGeom>
          <a:solidFill>
            <a:srgbClr val="4D0030"/>
          </a:solidFill>
          <a:ln/>
          <a:effectLst>
            <a:outerShdw blurRad="88900" dist="38100" dir="5400000" algn="bl" rotWithShape="0">
              <a:srgbClr val="9A8895">
                <a:alpha val="2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6" name="Shape 12"/>
          <p:cNvSpPr/>
          <p:nvPr/>
        </p:nvSpPr>
        <p:spPr>
          <a:xfrm>
            <a:off x="4846320" y="3145536"/>
            <a:ext cx="548640" cy="548640"/>
          </a:xfrm>
          <a:prstGeom prst="ellipse">
            <a:avLst/>
          </a:prstGeom>
          <a:solidFill>
            <a:srgbClr val="D0006F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7" name="Image 2" descr="/tmp/build/icons/road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88966" y="3288182"/>
            <a:ext cx="263347" cy="263347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5522976" y="3127248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Broader roadmap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4882896" y="3767328"/>
            <a:ext cx="284378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160" dirty="0">
                <a:solidFill>
                  <a:srgbClr val="EAD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Multi-study pattern learning — the knowledge base grows as more studies run through the tool</a:t>
            </a:r>
            <a:endParaRPr lang="en-US" sz="1160" dirty="0"/>
          </a:p>
          <a:p>
            <a:pPr marL="342900" indent="-342900" algn="l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160" dirty="0">
                <a:solidFill>
                  <a:srgbClr val="EAD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integration with EDC system exports for streamlined input</a:t>
            </a:r>
            <a:endParaRPr lang="en-US" sz="1160" dirty="0"/>
          </a:p>
          <a:p>
            <a:pPr marL="342900" indent="-342900" algn="l">
              <a:lnSpc>
                <a:spcPct val="100000"/>
              </a:lnSpc>
              <a:buSzPct val="100000"/>
              <a:buChar char="•"/>
            </a:pPr>
            <a:r>
              <a:rPr lang="en-US" sz="1160" dirty="0">
                <a:solidFill>
                  <a:srgbClr val="EAD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ready to connect to an AZ-approved LLM API endpoint when access is available</a:t>
            </a:r>
            <a:endParaRPr lang="en-US" sz="1160" dirty="0"/>
          </a:p>
        </p:txBody>
      </p:sp>
      <p:sp>
        <p:nvSpPr>
          <p:cNvPr id="20" name="Shape 15"/>
          <p:cNvSpPr/>
          <p:nvPr/>
        </p:nvSpPr>
        <p:spPr>
          <a:xfrm>
            <a:off x="8275320" y="2889504"/>
            <a:ext cx="3367735" cy="2788920"/>
          </a:xfrm>
          <a:prstGeom prst="roundRect">
            <a:avLst>
              <a:gd name="adj" fmla="val 3934"/>
            </a:avLst>
          </a:prstGeom>
          <a:solidFill>
            <a:srgbClr val="F0AB00"/>
          </a:solidFill>
          <a:ln/>
          <a:effectLst>
            <a:outerShdw blurRad="88900" dist="38100" dir="5400000" algn="bl" rotWithShape="0">
              <a:srgbClr val="9A8895">
                <a:alpha val="2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1" name="Text 16"/>
          <p:cNvSpPr/>
          <p:nvPr/>
        </p:nvSpPr>
        <p:spPr>
          <a:xfrm>
            <a:off x="8549640" y="3200400"/>
            <a:ext cx="28190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50" dirty="0">
                <a:solidFill>
                  <a:srgbClr val="6B4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 RESOLUTION</a:t>
            </a:r>
            <a:endParaRPr lang="en-US" sz="1100" dirty="0"/>
          </a:p>
        </p:txBody>
      </p:sp>
      <p:sp>
        <p:nvSpPr>
          <p:cNvPr id="22" name="Text 17"/>
          <p:cNvSpPr/>
          <p:nvPr/>
        </p:nvSpPr>
        <p:spPr>
          <a:xfrm>
            <a:off x="8549640" y="3566160"/>
            <a:ext cx="28190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600" b="1" dirty="0">
                <a:solidFill>
                  <a:srgbClr val="5A420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97–99%</a:t>
            </a:r>
            <a:endParaRPr lang="en-US" sz="4600" dirty="0"/>
          </a:p>
        </p:txBody>
      </p:sp>
      <p:sp>
        <p:nvSpPr>
          <p:cNvPr id="23" name="Text 18"/>
          <p:cNvSpPr/>
          <p:nvPr/>
        </p:nvSpPr>
        <p:spPr>
          <a:xfrm>
            <a:off x="8549640" y="4517136"/>
            <a:ext cx="28190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b="1" dirty="0">
                <a:solidFill>
                  <a:srgbClr val="5A4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LLM handling the remaining edge cases — built to CDISC aCRF conventions, human-in-the-loop throughout.</a:t>
            </a:r>
            <a:endParaRPr lang="en-US" sz="1200" dirty="0"/>
          </a:p>
        </p:txBody>
      </p:sp>
      <p:sp>
        <p:nvSpPr>
          <p:cNvPr id="24" name="Text 19"/>
          <p:cNvSpPr/>
          <p:nvPr/>
        </p:nvSpPr>
        <p:spPr>
          <a:xfrm>
            <a:off x="548640" y="638251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i="1" dirty="0">
                <a:solidFill>
                  <a:srgbClr val="68D2D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Thank you — questions welcome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108</TotalTime>
  <Words>2165</Words>
  <Application>Microsoft Office PowerPoint</Application>
  <PresentationFormat>Widescreen</PresentationFormat>
  <Paragraphs>169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Century Schoolbook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Automated aCRF Annotation Engine</dc:title>
  <dc:subject>PptxGenJS Presentation</dc:subject>
  <dc:creator>aCRF Annotation Engine</dc:creator>
  <cp:lastModifiedBy>Agarwal, Jhanavi</cp:lastModifiedBy>
  <cp:revision>1</cp:revision>
  <dcterms:created xsi:type="dcterms:W3CDTF">2026-06-16T09:06:08Z</dcterms:created>
  <dcterms:modified xsi:type="dcterms:W3CDTF">2026-06-17T06:21:49Z</dcterms:modified>
</cp:coreProperties>
</file>