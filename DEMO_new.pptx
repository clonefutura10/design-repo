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Automated aCRF Annotation Engine</a:t>
            </a:r>
          </a:p>
          <a:p>
            <a:pPr>
              <a:spcBef>
                <a:spcPts val="1000"/>
              </a:spcBef>
              <a:defRPr sz="1900">
                <a:solidFill>
                  <a:srgbClr val="BFD3E6"/>
                </a:solidFill>
              </a:defRPr>
            </a:pPr>
            <a:r>
              <a:t>Generating a first-draft annotated CRF from a blank CRF PDF</a:t>
            </a:r>
          </a:p>
          <a:p>
            <a:pPr>
              <a:spcBef>
                <a:spcPts val="1600"/>
              </a:spcBef>
              <a:defRPr sz="1300" i="1">
                <a:solidFill>
                  <a:srgbClr val="9FB6CC"/>
                </a:solidFill>
              </a:defRPr>
            </a:pPr>
            <a:r>
              <a:t>Does the repetitive ~80% automatically — the SDTM programmer reviews &amp; finalises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FB6CC"/>
                </a:solidFill>
              </a:defRPr>
            </a:pPr>
            <a:r>
              <a:t>Proof of concept  ·  Intern project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The problem: aCRF annotation is a manual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Every study ships a blank CRF of ~500 pages that must be annotated by hand to SDTM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62B33"/>
                </a:solidFill>
              </a:defRPr>
            </a:pPr>
            <a:r>
              <a:t>–  Slow — days to weeks of specialist effort per study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62B33"/>
                </a:solidFill>
              </a:defRPr>
            </a:pPr>
            <a:r>
              <a:t>–  Repetitive — the same common mappings (DM, VS, LB, AE, CM…) are redone every study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62B33"/>
                </a:solidFill>
              </a:defRPr>
            </a:pPr>
            <a:r>
              <a:t>–  Manual = easy to be inconsistent across pages and reviewers</a:t>
            </a:r>
          </a:p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The first ~80% is mechanical; the hard ~20% needs real judgement</a:t>
            </a:r>
          </a:p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Opportunity: auto-generate the mechanical first draft, free experts for the hard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What the tool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In:  a blank CRF PDF (AstraZeneca EDC export)</a:t>
            </a:r>
          </a:p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Out, in seconds:  a first-draft annotated CRF PDF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62B33"/>
                </a:solidFill>
              </a:defRPr>
            </a:pPr>
            <a:r>
              <a:t>–  SDTM  DOMAIN.VARIABLE  placed in the right margin beside each field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62B33"/>
                </a:solidFill>
              </a:defRPr>
            </a:pPr>
            <a:r>
              <a:t>–  Colour-coded by domain class · dual bookmarks · colour legend page</a:t>
            </a:r>
          </a:p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Deterministic &amp; transparent — every mapping is explainable, not a black box</a:t>
            </a:r>
          </a:p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</a:defRPr>
            </a:pPr>
            <a:r>
              <a:t>•  Honest scope: a reviewed first draft, not a validated final aCRF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2925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2B33"/>
                </a:solidFill>
              </a:defRPr>
            </a:pPr>
            <a:r>
              <a:t>•  Geometry-aware extraction reads fields even when the EDC prints no field numbers.</a:t>
            </a:r>
          </a:p>
          <a:p>
            <a:pPr>
              <a:spcAft>
                <a:spcPts val="600"/>
              </a:spcAft>
              <a:defRPr sz="1400">
                <a:solidFill>
                  <a:srgbClr val="262B33"/>
                </a:solidFill>
              </a:defRPr>
            </a:pPr>
            <a:r>
              <a:t>•  Resolution is fully deterministic; annotations are written as real, searchable PDF FreeText objects.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Resolution engine — a deterministic cascade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4332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F3A5F"/>
                </a:solidFill>
              </a:defRPr>
            </a:pPr>
            <a:r>
              <a:t>•  Best-confidence match wins</a:t>
            </a:r>
          </a:p>
          <a:p>
            <a:pPr lvl="1">
              <a:spcAft>
                <a:spcPts val="700"/>
              </a:spcAft>
              <a:defRPr sz="1000" b="0">
                <a:solidFill>
                  <a:srgbClr val="262B33"/>
                </a:solidFill>
              </a:defRPr>
            </a:pPr>
            <a:r>
              <a:t>–  High-confidence curated rules are never overridden</a:t>
            </a:r>
          </a:p>
          <a:p>
            <a:pPr lvl="1">
              <a:spcAft>
                <a:spcPts val="700"/>
              </a:spcAft>
              <a:defRPr sz="1000" b="0">
                <a:solidFill>
                  <a:srgbClr val="262B33"/>
                </a:solidFill>
              </a:defRPr>
            </a:pPr>
            <a:r>
              <a:t>–  Passes 2–4 use CDISC standards + token similarity → a brand-new CRF still gets coverage</a:t>
            </a:r>
          </a:p>
          <a:p>
            <a:pPr>
              <a:spcAft>
                <a:spcPts val="700"/>
              </a:spcAft>
              <a:defRPr sz="1200" b="1">
                <a:solidFill>
                  <a:srgbClr val="1F3A5F"/>
                </a:solidFill>
              </a:defRPr>
            </a:pPr>
            <a:r>
              <a:t>•  Deterministic = auditable &amp; reproducible (matters for GxP)</a:t>
            </a:r>
          </a:p>
          <a:p>
            <a:pPr>
              <a:spcAft>
                <a:spcPts val="700"/>
              </a:spcAft>
              <a:defRPr sz="1200" b="1">
                <a:solidFill>
                  <a:srgbClr val="1F3A5F"/>
                </a:solidFill>
              </a:defRPr>
            </a:pPr>
            <a:r>
              <a:t>•  MedDRA / WHO-Drug / ATC coded fields are skipped before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Rules we engineered to (CDISC aCRF conventions)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1">
                <a:solidFill>
                  <a:srgbClr val="1F3A5F"/>
                </a:solidFill>
              </a:defRPr>
            </a:pPr>
            <a:r>
              <a:t>•  Every collected field → DOMAIN.VARIABLE, or [NOT SUBMITTED] if collected-but-unmapped</a:t>
            </a:r>
          </a:p>
          <a:p>
            <a:pPr>
              <a:spcAft>
                <a:spcPts val="700"/>
              </a:spcAft>
              <a:defRPr sz="1450" b="1">
                <a:solidFill>
                  <a:srgbClr val="1F3A5F"/>
                </a:solidFill>
              </a:defRPr>
            </a:pPr>
            <a:r>
              <a:t>•  Derived fields skipped entirely — MedDRA / WHO-Drug / ATC codes &amp; dictionary text</a:t>
            </a:r>
          </a:p>
          <a:p>
            <a:pPr lvl="1">
              <a:spcAft>
                <a:spcPts val="700"/>
              </a:spcAft>
              <a:defRPr sz="1250" b="0">
                <a:solidFill>
                  <a:srgbClr val="262B33"/>
                </a:solidFill>
              </a:defRPr>
            </a:pPr>
            <a:r>
              <a:t>–  (traceability for those lives in Define-XML, not the aCRF)</a:t>
            </a:r>
          </a:p>
          <a:p>
            <a:pPr lvl="1">
              <a:spcAft>
                <a:spcPts val="700"/>
              </a:spcAft>
              <a:defRPr sz="1250" b="0">
                <a:solidFill>
                  <a:srgbClr val="262B33"/>
                </a:solidFill>
              </a:defRPr>
            </a:pPr>
            <a:r>
              <a:t>–  Free-text verbatim is annotated (AE.AETERM, CM.CMTRT…); its coded partner is skipped</a:t>
            </a:r>
          </a:p>
          <a:p>
            <a:pPr>
              <a:spcAft>
                <a:spcPts val="700"/>
              </a:spcAft>
              <a:defRPr sz="1450" b="1">
                <a:solidFill>
                  <a:srgbClr val="1F3A5F"/>
                </a:solidFill>
              </a:defRPr>
            </a:pPr>
            <a:r>
              <a:t>•  Format: ALL CAPS · codelist in (Cxxxxx) · SUPP--.QVAL where QNAM · value-level where-clauses</a:t>
            </a:r>
          </a:p>
          <a:p>
            <a:pPr>
              <a:spcAft>
                <a:spcPts val="700"/>
              </a:spcAft>
              <a:defRPr sz="1450" b="1">
                <a:solidFill>
                  <a:srgbClr val="1F3A5F"/>
                </a:solidFill>
              </a:defRPr>
            </a:pPr>
            <a:r>
              <a:t>•  Colour by domain class · dual bookmarks (by visit + by topic) · searchable text · legend page</a:t>
            </a:r>
          </a:p>
          <a:p>
            <a:pPr>
              <a:spcAft>
                <a:spcPts val="700"/>
              </a:spcAft>
              <a:defRPr sz="1450" b="1">
                <a:solidFill>
                  <a:srgbClr val="1F3A5F"/>
                </a:solidFill>
              </a:defRPr>
            </a:pPr>
            <a:r>
              <a:t>•  NOT_SUBMITTED list = editable business logic (not a CDISC spec) — easy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Real output — generated, not mocked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ut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852160" cy="3175994"/>
          </a:xfrm>
          <a:prstGeom prst="rect">
            <a:avLst/>
          </a:prstGeom>
        </p:spPr>
      </p:pic>
      <p:pic>
        <p:nvPicPr>
          <p:cNvPr id="5" name="Picture 4" descr="out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5394960" cy="4511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4360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A5F"/>
                </a:solidFill>
              </a:defRPr>
            </a:pPr>
            <a:r>
              <a:t>Demographics — DM.SEX / DM.RACE / DM.ETHNIC + SUPPDM.QVAL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94360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A5F"/>
                </a:solidFill>
              </a:defRPr>
            </a:pPr>
            <a:r>
              <a:t>Findings — VS.VSORRES / SUPPVS.QVAL  where VSTESTCD = … (value-level)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FreeText annotations → Pinnacle 21 ready &amp; editable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Annotations are real PDF FreeText objects — not flattened images</a:t>
            </a:r>
          </a:p>
          <a:p>
            <a:pPr lvl="1">
              <a:spcAft>
                <a:spcPts val="700"/>
              </a:spcAft>
              <a:defRPr sz="1350" b="0">
                <a:solidFill>
                  <a:srgbClr val="262B33"/>
                </a:solidFill>
              </a:defRPr>
            </a:pPr>
            <a:r>
              <a:t>–  Searchable (Ctrl+F) and selectable</a:t>
            </a:r>
          </a:p>
          <a:p>
            <a:pPr lvl="1">
              <a:spcAft>
                <a:spcPts val="700"/>
              </a:spcAft>
              <a:defRPr sz="1350" b="0">
                <a:solidFill>
                  <a:srgbClr val="262B33"/>
                </a:solidFill>
              </a:defRPr>
            </a:pPr>
            <a:r>
              <a:t>–  Extractable by Pinnacle 21 — the industry-standard aCRF validation tool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Editable in BOTH directions</a:t>
            </a:r>
          </a:p>
          <a:p>
            <a:pPr lvl="1">
              <a:spcAft>
                <a:spcPts val="700"/>
              </a:spcAft>
              <a:defRPr sz="1350" b="0">
                <a:solidFill>
                  <a:srgbClr val="262B33"/>
                </a:solidFill>
              </a:defRPr>
            </a:pPr>
            <a:r>
              <a:t>–  In the review frontend (edit a mapping, regenerate)</a:t>
            </a:r>
          </a:p>
          <a:p>
            <a:pPr lvl="1">
              <a:spcAft>
                <a:spcPts val="700"/>
              </a:spcAft>
              <a:defRPr sz="1350" b="0">
                <a:solidFill>
                  <a:srgbClr val="262B33"/>
                </a:solidFill>
              </a:defRPr>
            </a:pPr>
            <a:r>
              <a:t>–  Directly in the output PDF (e.g. Adobe) — same as a hand-annotated aCRF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Why it matters: drops into the existing QC / validation workflow with no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Works across different EDC export styles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 Handles 4+ study-ID header formats + a 'Project Name:' fallback for UAT/preview builds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 Recovers a form code from the form NAME when the EDC omits it (30+ patterns)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 Domain inference from codes, suffixes (VS1), underscores (LB_HEM), variants (DEM→DM) — never empty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 Built CRF-first / study-agnostic — an important distinction:</a:t>
            </a:r>
          </a:p>
          <a:p>
            <a:pPr lvl="1">
              <a:spcAft>
                <a:spcPts val="700"/>
              </a:spcAft>
              <a:defRPr sz="1300" b="1">
                <a:solidFill>
                  <a:srgbClr val="1F3A5F"/>
                </a:solidFill>
              </a:defRPr>
            </a:pPr>
            <a:r>
              <a:t>–  A generic EDC CRF flows INTO this tool</a:t>
            </a:r>
          </a:p>
          <a:p>
            <a:pPr lvl="1">
              <a:spcAft>
                <a:spcPts val="700"/>
              </a:spcAft>
              <a:defRPr sz="1300" b="1">
                <a:solidFill>
                  <a:srgbClr val="1F3A5F"/>
                </a:solidFill>
              </a:defRPr>
            </a:pPr>
            <a:r>
              <a:t>–  …but a tool hard-wired to ONE EDC's export format would NOT generalise back to arbitrary CRFs</a:t>
            </a:r>
          </a:p>
          <a:p>
            <a:pPr>
              <a:spcAft>
                <a:spcPts val="700"/>
              </a:spcAft>
              <a:defRPr sz="1500" b="0">
                <a:solidFill>
                  <a:srgbClr val="262B33"/>
                </a:solidFill>
              </a:defRPr>
            </a:pPr>
            <a:r>
              <a:t>•  Tested on 4 different blank CRFs to check coverage, not just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Coverage &amp; honest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400800" cy="3242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F3A5F"/>
                </a:solidFill>
              </a:defRPr>
            </a:pPr>
            <a:r>
              <a:t>•  Strongest domains</a:t>
            </a:r>
          </a:p>
          <a:p>
            <a:pPr lvl="1">
              <a:spcAft>
                <a:spcPts val="700"/>
              </a:spcAft>
              <a:defRPr sz="1100" b="0">
                <a:solidFill>
                  <a:srgbClr val="262B33"/>
                </a:solidFill>
              </a:defRPr>
            </a:pPr>
            <a:r>
              <a:t>–  DM, VS, LB, EG, AE, CM, MH, IE, SV</a:t>
            </a:r>
          </a:p>
          <a:p>
            <a:pPr>
              <a:spcAft>
                <a:spcPts val="700"/>
              </a:spcAft>
              <a:defRPr sz="1300" b="1">
                <a:solidFill>
                  <a:srgbClr val="1F3A5F"/>
                </a:solidFill>
              </a:defRPr>
            </a:pPr>
            <a:r>
              <a:t>•  Harder (being honest)</a:t>
            </a:r>
          </a:p>
          <a:p>
            <a:pPr lvl="1">
              <a:spcAft>
                <a:spcPts val="700"/>
              </a:spcAft>
              <a:defRPr sz="1100" b="0">
                <a:solidFill>
                  <a:srgbClr val="262B33"/>
                </a:solidFill>
              </a:defRPr>
            </a:pPr>
            <a:r>
              <a:t>–  Novel field wording</a:t>
            </a:r>
          </a:p>
          <a:p>
            <a:pPr lvl="1">
              <a:spcAft>
                <a:spcPts val="700"/>
              </a:spcAft>
              <a:defRPr sz="1100" b="0">
                <a:solidFill>
                  <a:srgbClr val="262B33"/>
                </a:solidFill>
              </a:defRPr>
            </a:pPr>
            <a:r>
              <a:t>–  Complex skip-logic forms</a:t>
            </a:r>
          </a:p>
          <a:p>
            <a:pPr lvl="1">
              <a:spcAft>
                <a:spcPts val="700"/>
              </a:spcAft>
              <a:defRPr sz="1100" b="0">
                <a:solidFill>
                  <a:srgbClr val="262B33"/>
                </a:solidFill>
              </a:defRPr>
            </a:pPr>
            <a:r>
              <a:t>–  Study-specific questionnaires</a:t>
            </a:r>
          </a:p>
          <a:p>
            <a:pPr lvl="1">
              <a:spcAft>
                <a:spcPts val="700"/>
              </a:spcAft>
              <a:defRPr sz="1100" b="0">
                <a:solidFill>
                  <a:srgbClr val="262B33"/>
                </a:solidFill>
              </a:defRPr>
            </a:pPr>
            <a:r>
              <a:t>–  Per-test grid fan-out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What's next — LLM as a Tier-3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817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B33"/>
                </a:solidFill>
              </a:defRPr>
            </a:pPr>
            <a:r>
              <a:t>Also on the roadmap: per-test grid fan-out · growing the rule library (config only, no code change) · always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A working first-draft aCRF generator: automates the repetitive ~80%, leaves judgement to the expert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Deterministic &amp; transparent — every annotation is explainable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Validation-friendly — real FreeText, searchable, Pinnacle-21 extractable, editable both ways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Generalises across EDC export styles, tested on 4 different CRFs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Grounded framing: a proof of concept and a starting point — not a replacement for review</a:t>
            </a:r>
          </a:p>
          <a:p>
            <a:pPr>
              <a:spcAft>
                <a:spcPts val="700"/>
              </a:spcAft>
              <a:defRPr sz="1550" b="1">
                <a:solidFill>
                  <a:srgbClr val="1F3A5F"/>
                </a:solidFill>
              </a:defRPr>
            </a:pPr>
            <a:r>
              <a:t>•  Highest-leverage next step: wire the reserved LLM Tier-3 for the hard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A9D8F"/>
                </a:solidFill>
              </a:defRPr>
            </a:pPr>
            <a:r>
              <a:t>Thank you —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First-draft aCRF  ·  Proof of concept  · 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