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Intro. I'm an intern, and this is a proof-of-concept tool I built that auto-generates a first-draft annotated CRF (aCRF) from a blank CRF PDF. It does the repetitive ~80% of the annotation work; the SDTM programmer then reviews and finalises. I'm framing it as a helpful first draft and a starting point — not a replacement for our existing process.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study ships a blank CRF of roughly 500 pages that has to be annotated by hand to SDTM. It's slow (days to weeks of specialist effort per study), repetitive (the same common DM / VS / LB / AE / CM mappings are redone every study), and being manual it's easy to be inconsistent across pages and reviewers. The first ~80% is mechanical; the hard ~20% needs real judgement. The opportunity is to auto-generate the mechanical first draft and free experts for the hard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Input: a blank CRF PDF (an AstraZeneca EDC export). Output, in seconds: a first-draft annotated CRF PDF — the SDTM DOMAIN.VARIABLE placed in the right margin beside each field, colour-coded by domain class, with dual bookmarks and a colour legend page. Every mapping is explainable. Honest scope: this is a reviewed first draft, not a validated final aCRF.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pipeline: read the blank CRF, locate every field (geometry-aware — it works even when the EDC prints no field numbers), map each field to SDTM, then annotate and bookmark. The annotations are written as real, searchable PDF text objects.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field passes through confidence-ranked layers and the highest-confidence match wins. First a pre-filter skips derived and coded fields. Then: AZ + CDISC curated knowledge (highest confidence, ~0.98), CDISC SDTM standards match (~0.92), study-spec exact label match (~0.90), and study-spec similarity match (&lt;=0.86). High-confidence matches are never overridden. Because the later layers use CDISC standards and similarity, a brand-new CRF still gets meaningful coverage. MedDRA / WHO-Drug / ATC coded fields are skipped before mapping. Everything is auditable and reproducible — which matters for GxP.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follow CDISC aCRF conventions. Every collected field gets DOMAIN.VARIABLE, or [NOT SUBMITTED] if it's collected but unmapped. Derived and coded fields — MedDRA, WHO-Drug, ATC dictionary terms — are skipped entirely; their traceability lives in Define-XML. Verbatim free-text is annotated (AE.AETERM, CM.CMTRT...) while its coded partner is skipped. Format: ALL CAPS, codelist in (Cxxxxx), SUPP--.QVAL where QNAM, and value-level where-clauses. Colour by domain class, dual bookmarks (by visit and by topic), searchable text, and a legend page. The [NOT SUBMITTED] list is editable business logic, not a fixed spec, so it's easy to extend.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real generated pages, not mockups. Left: Demographics — DM.SEX / DM.RACE / DM.ETHNIC, plus SUPPDM.QVAL for 'other race, specify'. Right: a Findings page — VS.VSORRES with value-level 'where VSTESTCD = ...' per test. This shows annotations placed next to the field, carrying the correct qualifiers.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annotations are real PDF text objects, not flattened images — so they're searchable (Ctrl+F), selectable, and extractable by Pinnacle 21, the industry-standard aCRF validation tool. They're editable both ways: in the review frontend (edit a mapping and regenerate) and directly in the output PDF (e.g. Adobe), exactly like a hand-annotated aCRF. So it drops into the existing QC / validation workflow with no friction.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Built CRF-first and study-agnostic. It handles 4+ study-ID header formats plus a 'Project Name:' fallback for UAT/preview builds, recovers a form code from the form name when the EDC omits it (30+ patterns), and infers the domain from codes, suffixes (VS1), underscores (LB_HEM) and variants (DEM to DM). Important distinction: any CRF flows into this tool, but a tool hard-wired to one EDC's export format would not generalise back to arbitrary CRFs. Tested on 4 different blank CRFs, not just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First-draft coverage across 4 different CRFs and export styles: 87% (D9186, standard), 62% and 62% (UAT builds with codes stripped out), and 90% (D5180, 503 pages). Strongest domains: DM, VS, LB, EG, AE, CM, MH, IE, SV. Being honest, the harder cases are novel field wording, complex skip-logic forms, study-specific questionnaires, and per-test grid fan-out.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highest-leverage next step is an AI assist as a Tier-3 fallback for the ~10% hard tail. It would run only on unresolved or low-confidence fields, see the field label plus form context plus candidate variables, and propose a mapping with a confidence score — never overriding high-confidence mappings. Assist-only keeps the trustworthy core and adds reach on the long tail. Also on the roadmap: per-test grid fan-out and growing the knowledge library (config only, no code change). Human review is always in the loop.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 recap: it automates the repetitive ~80% and leaves judgement to the expert; it's explainable and transparent — every annotation is traceable; it's validation-friendly — searchable, Pinnacle-21 ready, editable both ways; it generalises across EDC export styles, tested on 4 CRFs; and it's a first draft and a starting point, not a replacement for review. Thank you — 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12191695" cy="7315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Automated aCRF Annotation Engine</a:t>
            </a:r>
          </a:p>
          <a:p>
            <a:pPr>
              <a:spcBef>
                <a:spcPts val="1000"/>
              </a:spcBef>
              <a:defRPr sz="1900">
                <a:solidFill>
                  <a:srgbClr val="BFD3E6"/>
                </a:solidFill>
              </a:defRPr>
            </a:pPr>
            <a:r>
              <a:t>Generating a first-draft annotated CRF from a blank CRF PDF</a:t>
            </a:r>
          </a:p>
          <a:p>
            <a:pPr>
              <a:spcBef>
                <a:spcPts val="1600"/>
              </a:spcBef>
              <a:defRPr sz="1300" i="1">
                <a:solidFill>
                  <a:srgbClr val="9FB6CC"/>
                </a:solidFill>
              </a:defRPr>
            </a:pPr>
            <a:r>
              <a:t>Does the repetitive ~80% automatically — the SDTM programmer reviews &amp; finalises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85216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FB6CC"/>
                </a:solidFill>
              </a:defRPr>
            </a:pPr>
            <a:r>
              <a:t>Proof of concept  ·  Intern project  ·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ctr">
              <a:defRPr sz="2500" b="1">
                <a:solidFill>
                  <a:srgbClr val="FFFFFF"/>
                </a:solidFill>
              </a:defRPr>
            </a:pPr>
            <a:r>
              <a:t>The problem: aCRF annotation is a manual bottleneck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6473952"/>
            <a:ext cx="91440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B7280"/>
                </a:solidFill>
              </a:defRPr>
            </a:pPr>
            <a:r>
              <a:t>First-draft aCRF  ·  Proof of concept  ·  Human-in-the-loop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55664"/>
            <a:ext cx="5486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B7280"/>
                </a:solidFill>
              </a:defRPr>
            </a:pPr>
            <a:r>
              <a:t>2</a:t>
            </a:r>
          </a:p>
        </p:txBody>
      </p:sp>
      <p:pic>
        <p:nvPicPr>
          <p:cNvPr id="7" name="Picture 6" descr="s2_pro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34440"/>
            <a:ext cx="11091672" cy="483024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ctr">
              <a:defRPr sz="2500" b="1">
                <a:solidFill>
                  <a:srgbClr val="FFFFFF"/>
                </a:solidFill>
              </a:defRPr>
            </a:pPr>
            <a:r>
              <a:t>What the tool does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6473952"/>
            <a:ext cx="91440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B7280"/>
                </a:solidFill>
              </a:defRPr>
            </a:pPr>
            <a:r>
              <a:t>First-draft aCRF  ·  Proof of concept  ·  Human-in-the-loop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55664"/>
            <a:ext cx="5486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B7280"/>
                </a:solidFill>
              </a:defRPr>
            </a:pPr>
            <a:r>
              <a:t>3</a:t>
            </a:r>
          </a:p>
        </p:txBody>
      </p:sp>
      <p:pic>
        <p:nvPicPr>
          <p:cNvPr id="7" name="Picture 6" descr="s3_in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34440"/>
            <a:ext cx="10908792" cy="464964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ctr">
              <a:defRPr sz="2500" b="1">
                <a:solidFill>
                  <a:srgbClr val="FFFFFF"/>
                </a:solidFill>
              </a:defRPr>
            </a:pPr>
            <a:r>
              <a:t>How it works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473952"/>
            <a:ext cx="91440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B7280"/>
                </a:solidFill>
              </a:defRPr>
            </a:pPr>
            <a:r>
              <a:t>First-draft aCRF  ·  Proof of concept  ·  Human-in-the-loop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55664"/>
            <a:ext cx="5486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B7280"/>
                </a:solidFill>
              </a:defRPr>
            </a:pPr>
            <a:r>
              <a:t>4</a:t>
            </a:r>
          </a:p>
        </p:txBody>
      </p:sp>
      <p:pic>
        <p:nvPicPr>
          <p:cNvPr id="8" name="Picture 7" descr="s4_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920240"/>
            <a:ext cx="1124712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ctr">
              <a:defRPr sz="2500" b="1">
                <a:solidFill>
                  <a:srgbClr val="FFFFFF"/>
                </a:solidFill>
              </a:defRPr>
            </a:pPr>
            <a:r>
              <a:t>Inside the SDTM mapping engine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473952"/>
            <a:ext cx="91440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B7280"/>
                </a:solidFill>
              </a:defRPr>
            </a:pPr>
            <a:r>
              <a:t>First-draft aCRF  ·  Proof of concept  ·  Human-in-the-loop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55664"/>
            <a:ext cx="5486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B7280"/>
                </a:solidFill>
              </a:defRPr>
            </a:pPr>
            <a:r>
              <a:t>5</a:t>
            </a:r>
          </a:p>
        </p:txBody>
      </p:sp>
      <p:pic>
        <p:nvPicPr>
          <p:cNvPr id="8" name="Picture 7" descr="s5_eng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0" y="1234440"/>
            <a:ext cx="8229600" cy="464384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ctr">
              <a:defRPr sz="2500" b="1">
                <a:solidFill>
                  <a:srgbClr val="FFFFFF"/>
                </a:solidFill>
              </a:defRPr>
            </a:pPr>
            <a:r>
              <a:t>Built to CDISC aCRF conventions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6473952"/>
            <a:ext cx="91440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B7280"/>
                </a:solidFill>
              </a:defRPr>
            </a:pPr>
            <a:r>
              <a:t>First-draft aCRF  ·  Proof of concept  ·  Human-in-the-loop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55664"/>
            <a:ext cx="5486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B7280"/>
                </a:solidFill>
              </a:defRPr>
            </a:pPr>
            <a:r>
              <a:t>6</a:t>
            </a:r>
          </a:p>
        </p:txBody>
      </p:sp>
      <p:pic>
        <p:nvPicPr>
          <p:cNvPr id="7" name="Picture 6" descr="s6_conven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91672" cy="483024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ctr">
              <a:defRPr sz="2500" b="1">
                <a:solidFill>
                  <a:srgbClr val="FFFFFF"/>
                </a:solidFill>
              </a:defRPr>
            </a:pPr>
            <a:r>
              <a:t>Real output — generated, not mocked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out_demograph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34440"/>
            <a:ext cx="5852160" cy="3175994"/>
          </a:xfrm>
          <a:prstGeom prst="rect">
            <a:avLst/>
          </a:prstGeom>
        </p:spPr>
      </p:pic>
      <p:pic>
        <p:nvPicPr>
          <p:cNvPr id="5" name="Picture 4" descr="out_findin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234440"/>
            <a:ext cx="5394960" cy="45111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5943600"/>
            <a:ext cx="5760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3A5F"/>
                </a:solidFill>
              </a:defRPr>
            </a:pPr>
            <a:r>
              <a:t>Demographics — DM.SEX / DM.RACE / DM.ETHNIC + SUPPDM.QVAL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5943600"/>
            <a:ext cx="5760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3A5F"/>
                </a:solidFill>
              </a:defRPr>
            </a:pPr>
            <a:r>
              <a:t>Findings — VS.VSORRES / SUPPVS.QVAL  where VSTESTCD = … (value-level)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91440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B7280"/>
                </a:solidFill>
              </a:defRPr>
            </a:pPr>
            <a:r>
              <a:t>First-draft aCRF  ·  Proof of concept  ·  Human-in-the-loop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55664"/>
            <a:ext cx="5486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B7280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ctr">
              <a:defRPr sz="2500" b="1">
                <a:solidFill>
                  <a:srgbClr val="FFFFFF"/>
                </a:solidFill>
              </a:defRPr>
            </a:pPr>
            <a:r>
              <a:t>FreeText annotations → Pinnacle 21 ready &amp; editable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6473952"/>
            <a:ext cx="91440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B7280"/>
                </a:solidFill>
              </a:defRPr>
            </a:pPr>
            <a:r>
              <a:t>First-draft aCRF  ·  Proof of concept  ·  Human-in-the-loop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55664"/>
            <a:ext cx="5486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B7280"/>
                </a:solidFill>
              </a:defRPr>
            </a:pPr>
            <a:r>
              <a:t>8</a:t>
            </a:r>
          </a:p>
        </p:txBody>
      </p:sp>
      <p:pic>
        <p:nvPicPr>
          <p:cNvPr id="7" name="Picture 6" descr="s8_freet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25880"/>
            <a:ext cx="11091672" cy="447244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ctr">
              <a:defRPr sz="2500" b="1">
                <a:solidFill>
                  <a:srgbClr val="FFFFFF"/>
                </a:solidFill>
              </a:defRPr>
            </a:pPr>
            <a:r>
              <a:t>Works across different EDC export styles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6473952"/>
            <a:ext cx="91440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B7280"/>
                </a:solidFill>
              </a:defRPr>
            </a:pPr>
            <a:r>
              <a:t>First-draft aCRF  ·  Proof of concept  ·  Human-in-the-loop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55664"/>
            <a:ext cx="5486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B7280"/>
                </a:solidFill>
              </a:defRPr>
            </a:pPr>
            <a:r>
              <a:t>9</a:t>
            </a:r>
          </a:p>
        </p:txBody>
      </p:sp>
      <p:pic>
        <p:nvPicPr>
          <p:cNvPr id="7" name="Picture 6" descr="s9_e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34440"/>
            <a:ext cx="11091672" cy="465134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ctr">
              <a:defRPr sz="2500" b="1">
                <a:solidFill>
                  <a:srgbClr val="FFFFFF"/>
                </a:solidFill>
              </a:defRPr>
            </a:pPr>
            <a:r>
              <a:t>Coverage &amp; honest metrics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6400800" cy="32427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6473952"/>
            <a:ext cx="91440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B7280"/>
                </a:solidFill>
              </a:defRPr>
            </a:pPr>
            <a:r>
              <a:t>First-draft aCRF  ·  Proof of concept  ·  Human-in-the-loop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55664"/>
            <a:ext cx="5486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B7280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ctr">
              <a:defRPr sz="2500" b="1">
                <a:solidFill>
                  <a:srgbClr val="FFFFFF"/>
                </a:solidFill>
              </a:defRPr>
            </a:pPr>
            <a:r>
              <a:t>What's next — AI assist for the hard tail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473952"/>
            <a:ext cx="91440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B7280"/>
                </a:solidFill>
              </a:defRPr>
            </a:pPr>
            <a:r>
              <a:t>First-draft aCRF  ·  Proof of concept  ·  Human-in-the-loop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55664"/>
            <a:ext cx="5486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B7280"/>
                </a:solidFill>
              </a:defRPr>
            </a:pPr>
            <a:r>
              <a:t>11</a:t>
            </a:r>
          </a:p>
        </p:txBody>
      </p:sp>
      <p:pic>
        <p:nvPicPr>
          <p:cNvPr id="8" name="Picture 7" descr="s11_nex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88720"/>
            <a:ext cx="1124712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ctr">
              <a:defRPr sz="2500" b="1">
                <a:solidFill>
                  <a:srgbClr val="FFFFFF"/>
                </a:solidFill>
              </a:defRPr>
            </a:pPr>
            <a:r>
              <a:t>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585216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A9D8F"/>
                </a:solidFill>
              </a:defRPr>
            </a:pPr>
            <a:r>
              <a:t>Thank you — questions welcome.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73952"/>
            <a:ext cx="91440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B7280"/>
                </a:solidFill>
              </a:defRPr>
            </a:pPr>
            <a:r>
              <a:t>First-draft aCRF  ·  Proof of concept  ·  Human-in-the-loop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55664"/>
            <a:ext cx="5486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B7280"/>
                </a:solidFill>
              </a:defRPr>
            </a:pPr>
            <a:r>
              <a:t>12</a:t>
            </a:r>
          </a:p>
        </p:txBody>
      </p:sp>
      <p:pic>
        <p:nvPicPr>
          <p:cNvPr id="8" name="Picture 7" descr="s12_takeaway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11091672" cy="375685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